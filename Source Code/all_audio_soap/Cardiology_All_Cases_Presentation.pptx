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CAR0001: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What brought you in today?</a:t>
            </a:r>
            <a:br/>
            <a:r>
              <a:t>P: Sure, I'm I'm just having a lot of chest pain and and so I thought I should get it checked out.</a:t>
            </a:r>
            <a:br/>
            <a:r>
              <a:t>D: OK, before we start, could you remind me of your gender and age?</a:t>
            </a:r>
            <a:br/>
            <a:r>
              <a:t>P: Sure 39, I'm a male.</a:t>
            </a:r>
            <a:br/>
            <a:r>
              <a:t>D: OK, and so when did this chest pain start?</a:t>
            </a:r>
            <a:br/>
            <a:r>
              <a:t>P: It started last night, but it's becoming sharper.</a:t>
            </a:r>
            <a:br/>
            <a:r>
              <a:t>D: OK, and where is this pain located?</a:t>
            </a:r>
            <a:br/>
            <a:r>
              <a:t>P: It's located on the left side of my chest.</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47472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474720" cy="365760"/>
          </a:xfrm>
          <a:prstGeom prst="rect">
            <a:avLst/>
          </a:prstGeom>
          <a:noFill/>
        </p:spPr>
        <p:txBody>
          <a:bodyPr wrap="square">
            <a:spAutoFit/>
          </a:bodyPr>
          <a:lstStyle/>
          <a:p>
            <a:pPr algn="ctr">
              <a:defRPr sz="1400" b="1">
                <a:solidFill>
                  <a:srgbClr val="1A1A2E"/>
                </a:solidFill>
                <a:latin typeface="Calibri"/>
              </a:defRPr>
            </a:pPr>
            <a:r>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P: brought you in today? Sure, I'm just having a lot of chest pain and so I thought I should get it</a:t>
            </a:r>
            <a:br/>
            <a:r>
              <a:t>D: checked out. Okay and before we start could you remind me of your gender and age? Sure, 39, I'm a male.</a:t>
            </a:r>
            <a:br/>
            <a:r>
              <a:t>D: Okay and so when did this chest pain start? It started last night but it's becoming sharper.</a:t>
            </a:r>
            <a:br/>
            <a:r>
              <a:t>D: Okay and where is this pain located? It's located on the left side of my chest. Okay and so how long</a:t>
            </a:r>
            <a:br/>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CAR0001: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The patient, a 39-year-old male, presents with 8 hours of sharp, constant left-sided chest pain that worsens with lying down and deep breaths. He reports associated symptoms of lightheadedness, dyspnea, and mild palpitations, and noted visible neck swelling without accompanying pain.</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The patient is a 39-year-old male presenting with acute left-sided chest pain that began 8 hours ago. He describes the pain as sharp, rated 7-8/10, exacerbated by lying down and deep breathing, and associated with lightheadedness, dyspnea, and palpitations.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CAR0001: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gridCol w="4983480"/>
                <a:gridCol w="4983480"/>
              </a:tblGrid>
              <a:tr h="418011">
                <a:tc>
                  <a:txBody>
                    <a:bodyPr/>
                    <a:lstStyle/>
                    <a:p>
                      <a:pPr algn="ctr">
                        <a:defRPr sz="1200" b="1">
                          <a:solidFill>
                            <a:srgbClr val="4EC9F0"/>
                          </a:solidFill>
                          <a:latin typeface="Calibri"/>
                        </a:defRPr>
                      </a:pPr>
                      <a:r>
                        <a:t>SOAP Field</a:t>
                      </a:r>
                    </a:p>
                  </a:txBody>
                  <a:tcPr anchor="ctr" marL="73152" marR="73152" marT="36576" marB="36576">
                    <a:solidFill>
                      <a:srgbClr val="2A2A4A"/>
                    </a:solidFill>
                  </a:tcPr>
                </a:tc>
                <a:tc>
                  <a:txBody>
                    <a:bodyPr/>
                    <a:lstStyle/>
                    <a:p>
                      <a:pPr algn="ctr">
                        <a:defRPr sz="1200" b="1">
                          <a:solidFill>
                            <a:srgbClr val="50E3A0"/>
                          </a:solidFill>
                          <a:latin typeface="Calibri"/>
                        </a:defRPr>
                      </a:pPr>
                      <a:r>
                        <a:t>Ground Truth</a:t>
                      </a:r>
                    </a:p>
                  </a:txBody>
                  <a:tcPr anchor="ctr" marL="73152" marR="73152" marT="36576" marB="36576">
                    <a:solidFill>
                      <a:srgbClr val="2A2A4A"/>
                    </a:solidFill>
                  </a:tcPr>
                </a:tc>
                <a:tc>
                  <a:txBody>
                    <a:bodyPr/>
                    <a:lstStyle/>
                    <a:p>
                      <a:pPr algn="ctr">
                        <a:defRPr sz="1200" b="1">
                          <a:solidFill>
                            <a:srgbClr val="F09E4E"/>
                          </a:solidFill>
                          <a:latin typeface="Calibri"/>
                        </a:defRPr>
                      </a:pPr>
                      <a:r>
                        <a:t>Predicted (Gemini 3.6 Flash)</a:t>
                      </a:r>
                    </a:p>
                  </a:txBody>
                  <a:tcPr anchor="ctr" marL="73152" marR="73152" marT="36576" marB="36576">
                    <a:solidFill>
                      <a:srgbClr val="2A2A4A"/>
                    </a:solidFill>
                  </a:tcPr>
                </a:tc>
              </a:tr>
              <a:tr h="418011">
                <a:tc>
                  <a:txBody>
                    <a:bodyPr/>
                    <a:lstStyle/>
                    <a:p>
                      <a:pPr>
                        <a:defRPr sz="1000" b="1">
                          <a:solidFill>
                            <a:srgbClr val="4EC9F0"/>
                          </a:solidFill>
                          <a:latin typeface="Calibri"/>
                        </a:defRPr>
                      </a:pPr>
                      <a:r>
                        <a:t>Chief Complaint</a:t>
                      </a:r>
                    </a:p>
                  </a:txBody>
                  <a:tcPr anchor="t" marL="73152" marR="73152" marT="36576" marB="36576">
                    <a:solidFill>
                      <a:srgbClr val="1E1E36"/>
                    </a:solidFill>
                  </a:tcPr>
                </a:tc>
                <a:tc>
                  <a:txBody>
                    <a:bodyPr/>
                    <a:lstStyle/>
                    <a:p>
                      <a:pPr>
                        <a:defRPr sz="900">
                          <a:solidFill>
                            <a:srgbClr val="F0F0F5"/>
                          </a:solidFill>
                          <a:latin typeface="Calibri"/>
                        </a:defRPr>
                      </a:pPr>
                      <a:r>
                        <a:t>Chest pain</a:t>
                      </a:r>
                    </a:p>
                  </a:txBody>
                  <a:tcPr anchor="t" marL="73152" marR="73152" marT="36576" marB="36576">
                    <a:solidFill>
                      <a:srgbClr val="1E1E36"/>
                    </a:solidFill>
                  </a:tcPr>
                </a:tc>
                <a:tc>
                  <a:txBody>
                    <a:bodyPr/>
                    <a:lstStyle/>
                    <a:p>
                      <a:pPr>
                        <a:defRPr sz="900">
                          <a:solidFill>
                            <a:srgbClr val="F0F0F5"/>
                          </a:solidFill>
                          <a:latin typeface="Calibri"/>
                        </a:defRPr>
                      </a:pPr>
                      <a:r>
                        <a:t>chest pain</a:t>
                      </a:r>
                    </a:p>
                  </a:txBody>
                  <a:tcPr anchor="t" marL="73152" marR="73152" marT="36576" marB="36576">
                    <a:solidFill>
                      <a:srgbClr val="1E1E36"/>
                    </a:solidFill>
                  </a:tcPr>
                </a:tc>
              </a:tr>
              <a:tr h="418011">
                <a:tc>
                  <a:txBody>
                    <a:bodyPr/>
                    <a:lstStyle/>
                    <a:p>
                      <a:pPr>
                        <a:defRPr sz="1000" b="1">
                          <a:solidFill>
                            <a:srgbClr val="4EC9F0"/>
                          </a:solidFill>
                          <a:latin typeface="Calibri"/>
                        </a:defRPr>
                      </a:pPr>
                      <a:r>
                        <a:t>Symptoms</a:t>
                      </a:r>
                    </a:p>
                  </a:txBody>
                  <a:tcPr anchor="t" marL="73152" marR="73152" marT="36576" marB="36576">
                    <a:solidFill>
                      <a:srgbClr val="262640"/>
                    </a:solidFill>
                  </a:tcPr>
                </a:tc>
                <a:tc>
                  <a:txBody>
                    <a:bodyPr/>
                    <a:lstStyle/>
                    <a:p>
                      <a:pPr>
                        <a:defRPr sz="900">
                          <a:solidFill>
                            <a:srgbClr val="F0F0F5"/>
                          </a:solidFill>
                          <a:latin typeface="Calibri"/>
                        </a:defRPr>
                      </a:pPr>
                      <a:r>
                        <a:t>sharp left-sided chest pain | worsening pain on lying down | worsening pain on deep breath | lightheadedness | dyspnea | palpitations | neck...</a:t>
                      </a:r>
                    </a:p>
                  </a:txBody>
                  <a:tcPr anchor="t" marL="73152" marR="73152" marT="36576" marB="36576">
                    <a:solidFill>
                      <a:srgbClr val="262640"/>
                    </a:solidFill>
                  </a:tcPr>
                </a:tc>
                <a:tc>
                  <a:txBody>
                    <a:bodyPr/>
                    <a:lstStyle/>
                    <a:p>
                      <a:pPr>
                        <a:defRPr sz="900">
                          <a:solidFill>
                            <a:srgbClr val="F0F0F5"/>
                          </a:solidFill>
                          <a:latin typeface="Calibri"/>
                        </a:defRPr>
                      </a:pPr>
                      <a:r>
                        <a:t>left-sided chest pain | sharp pain | pain worsening with deep breathing | light-headedness | difficulty breathing | racing of the heart | sw...</a:t>
                      </a:r>
                    </a:p>
                  </a:txBody>
                  <a:tcPr anchor="t" marL="73152" marR="73152" marT="36576" marB="36576">
                    <a:solidFill>
                      <a:srgbClr val="262640"/>
                    </a:solidFill>
                  </a:tcPr>
                </a:tc>
              </a:tr>
              <a:tr h="418011">
                <a:tc>
                  <a:txBody>
                    <a:bodyPr/>
                    <a:lstStyle/>
                    <a:p>
                      <a:pPr>
                        <a:defRPr sz="1000" b="1">
                          <a:solidFill>
                            <a:srgbClr val="4EC9F0"/>
                          </a:solidFill>
                          <a:latin typeface="Calibri"/>
                        </a:defRPr>
                      </a:pPr>
                      <a:r>
                        <a:t>Symptom Onset</a:t>
                      </a:r>
                    </a:p>
                  </a:txBody>
                  <a:tcPr anchor="t" marL="73152" marR="73152" marT="36576" marB="36576">
                    <a:solidFill>
                      <a:srgbClr val="1E1E36"/>
                    </a:solidFill>
                  </a:tcPr>
                </a:tc>
                <a:tc>
                  <a:txBody>
                    <a:bodyPr/>
                    <a:lstStyle/>
                    <a:p>
                      <a:pPr>
                        <a:defRPr sz="900">
                          <a:solidFill>
                            <a:srgbClr val="F0F0F5"/>
                          </a:solidFill>
                          <a:latin typeface="Calibri"/>
                        </a:defRPr>
                      </a:pPr>
                      <a:r>
                        <a:t>Last night (approximately 8 hours ago)</a:t>
                      </a:r>
                    </a:p>
                  </a:txBody>
                  <a:tcPr anchor="t" marL="73152" marR="73152" marT="36576" marB="36576">
                    <a:solidFill>
                      <a:srgbClr val="1E1E36"/>
                    </a:solidFill>
                  </a:tcPr>
                </a:tc>
                <a:tc>
                  <a:txBody>
                    <a:bodyPr/>
                    <a:lstStyle/>
                    <a:p>
                      <a:pPr>
                        <a:defRPr sz="900">
                          <a:solidFill>
                            <a:srgbClr val="F0F0F5"/>
                          </a:solidFill>
                          <a:latin typeface="Calibri"/>
                        </a:defRPr>
                      </a:pPr>
                      <a:r>
                        <a:t>last night (approximately 8 hours ago)</a:t>
                      </a:r>
                    </a:p>
                  </a:txBody>
                  <a:tcPr anchor="t" marL="73152" marR="73152" marT="36576" marB="36576">
                    <a:solidFill>
                      <a:srgbClr val="1E1E36"/>
                    </a:solidFill>
                  </a:tcPr>
                </a:tc>
              </a:tr>
              <a:tr h="418011">
                <a:tc>
                  <a:txBody>
                    <a:bodyPr/>
                    <a:lstStyle/>
                    <a:p>
                      <a:pPr>
                        <a:defRPr sz="1000" b="1">
                          <a:solidFill>
                            <a:srgbClr val="4EC9F0"/>
                          </a:solidFill>
                          <a:latin typeface="Calibri"/>
                        </a:defRPr>
                      </a:pPr>
                      <a:r>
                        <a:t>Medical History</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Medications</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r>
              <a:tr h="418011">
                <a:tc>
                  <a:txBody>
                    <a:bodyPr/>
                    <a:lstStyle/>
                    <a:p>
                      <a:pPr>
                        <a:defRPr sz="1000" b="1">
                          <a:solidFill>
                            <a:srgbClr val="4EC9F0"/>
                          </a:solidFill>
                          <a:latin typeface="Calibri"/>
                        </a:defRPr>
                      </a:pPr>
                      <a:r>
                        <a:t>Allergies</a:t>
                      </a:r>
                    </a:p>
                  </a:txBody>
                  <a:tcPr anchor="t" marL="73152" marR="73152" marT="36576" marB="36576">
                    <a:solidFill>
                      <a:srgbClr val="262640"/>
                    </a:solidFill>
                  </a:tcPr>
                </a:tc>
                <a:tc>
                  <a:txBody>
                    <a:bodyPr/>
                    <a:lstStyle/>
                    <a:p>
                      <a:pPr>
                        <a:defRPr sz="900">
                          <a:solidFill>
                            <a:srgbClr val="F0F0F5"/>
                          </a:solidFill>
                          <a:latin typeface="Calibri"/>
                        </a:defRPr>
                      </a:pPr>
                      <a:r>
                        <a:t>none</a:t>
                      </a:r>
                    </a:p>
                  </a:txBody>
                  <a:tcPr anchor="t" marL="73152" marR="73152" marT="36576" marB="36576">
                    <a:solidFill>
                      <a:srgbClr val="262640"/>
                    </a:solidFill>
                  </a:tcPr>
                </a:tc>
                <a:tc>
                  <a:txBody>
                    <a:bodyPr/>
                    <a:lstStyle/>
                    <a:p>
                      <a:pPr>
                        <a:defRPr sz="900">
                          <a:solidFill>
                            <a:srgbClr val="F0F0F5"/>
                          </a:solidFill>
                          <a:latin typeface="Calibri"/>
                        </a:defRPr>
                      </a:pPr>
                      <a:r>
                        <a:t>none</a:t>
                      </a:r>
                    </a:p>
                  </a:txBody>
                  <a:tcPr anchor="t" marL="73152" marR="73152" marT="36576" marB="36576">
                    <a:solidFill>
                      <a:srgbClr val="262640"/>
                    </a:solidFill>
                  </a:tcPr>
                </a:tc>
              </a:tr>
              <a:tr h="418011">
                <a:tc>
                  <a:txBody>
                    <a:bodyPr/>
                    <a:lstStyle/>
                    <a:p>
                      <a:pPr>
                        <a:defRPr sz="1000" b="1">
                          <a:solidFill>
                            <a:srgbClr val="4EC9F0"/>
                          </a:solidFill>
                          <a:latin typeface="Calibri"/>
                        </a:defRPr>
                      </a:pPr>
                      <a:r>
                        <a:t>Exam Findings</a:t>
                      </a:r>
                    </a:p>
                  </a:txBody>
                  <a:tcPr anchor="t" marL="73152" marR="73152" marT="36576" marB="36576">
                    <a:solidFill>
                      <a:srgbClr val="1E1E36"/>
                    </a:solidFill>
                  </a:tcPr>
                </a:tc>
                <a:tc>
                  <a:txBody>
                    <a:bodyPr/>
                    <a:lstStyle/>
                    <a:p>
                      <a:pPr>
                        <a:defRPr sz="900">
                          <a:solidFill>
                            <a:srgbClr val="F0F0F5"/>
                          </a:solidFill>
                          <a:latin typeface="Calibri"/>
                        </a:defRPr>
                      </a:pPr>
                      <a:r>
                        <a:t>reported visible neck swelling | patient reports 7-8/10 pain severity</a:t>
                      </a:r>
                    </a:p>
                  </a:txBody>
                  <a:tcPr anchor="t" marL="73152" marR="73152" marT="36576" marB="36576">
                    <a:solidFill>
                      <a:srgbClr val="1E1E36"/>
                    </a:solidFill>
                  </a:tcPr>
                </a:tc>
                <a:tc>
                  <a:txBody>
                    <a:bodyPr/>
                    <a:lstStyle/>
                    <a:p>
                      <a:pPr>
                        <a:defRPr sz="900">
                          <a:solidFill>
                            <a:srgbClr val="F0F0F5"/>
                          </a:solidFill>
                          <a:latin typeface="Calibri"/>
                        </a:defRPr>
                      </a:pPr>
                      <a:r>
                        <a:t>neck swelling reported by patient</a:t>
                      </a:r>
                    </a:p>
                  </a:txBody>
                  <a:tcPr anchor="t" marL="73152" marR="73152" marT="36576" marB="36576">
                    <a:solidFill>
                      <a:srgbClr val="1E1E36"/>
                    </a:solidFill>
                  </a:tcPr>
                </a:tc>
              </a:tr>
              <a:tr h="418011">
                <a:tc>
                  <a:txBody>
                    <a:bodyPr/>
                    <a:lstStyle/>
                    <a:p>
                      <a:pPr>
                        <a:defRPr sz="1000" b="1">
                          <a:solidFill>
                            <a:srgbClr val="4EC9F0"/>
                          </a:solidFill>
                          <a:latin typeface="Calibri"/>
                        </a:defRPr>
                      </a:pPr>
                      <a:r>
                        <a:t>Diagnosis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Diff. Diagnosis</a:t>
                      </a:r>
                    </a:p>
                  </a:txBody>
                  <a:tcPr anchor="t" marL="73152" marR="73152" marT="36576" marB="36576">
                    <a:solidFill>
                      <a:srgbClr val="1E1E36"/>
                    </a:solidFill>
                  </a:tcPr>
                </a:tc>
                <a:tc>
                  <a:txBody>
                    <a:bodyPr/>
                    <a:lstStyle/>
                    <a:p>
                      <a:pPr>
                        <a:defRPr sz="900">
                          <a:solidFill>
                            <a:srgbClr val="F0F0F5"/>
                          </a:solidFill>
                          <a:latin typeface="Calibri"/>
                        </a:defRPr>
                      </a:pPr>
                      <a:r>
                        <a:t>Myocardial infarction (due to family history and symptoms) | Pericarditis (suggested by positional component) | Pneumothorax | Musculoskelet...</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r>
              <a:tr h="418011">
                <a:tc>
                  <a:txBody>
                    <a:bodyPr/>
                    <a:lstStyle/>
                    <a:p>
                      <a:pPr>
                        <a:defRPr sz="1000" b="1">
                          <a:solidFill>
                            <a:srgbClr val="4EC9F0"/>
                          </a:solidFill>
                          <a:latin typeface="Calibri"/>
                        </a:defRPr>
                      </a:pPr>
                      <a:r>
                        <a:t>Prescribed Meds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Treatment Plan</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r>
              <a:tr h="418011">
                <a:tc>
                  <a:txBody>
                    <a:bodyPr/>
                    <a:lstStyle/>
                    <a:p>
                      <a:pPr>
                        <a:defRPr sz="1000" b="1">
                          <a:solidFill>
                            <a:srgbClr val="4EC9F0"/>
                          </a:solidFill>
                          <a:latin typeface="Calibri"/>
                        </a:defRPr>
                      </a:pPr>
                      <a:r>
                        <a:t>Investigations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7">
                <a:tc>
                  <a:txBody>
                    <a:bodyPr/>
                    <a:lstStyle/>
                    <a:p>
                      <a:pPr>
                        <a:defRPr sz="1000" b="1">
                          <a:solidFill>
                            <a:srgbClr val="4EC9F0"/>
                          </a:solidFill>
                          <a:latin typeface="Calibri"/>
                        </a:defRPr>
                      </a:pPr>
                      <a:r>
                        <a:t>Follow Up</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CAR0002: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Yeah, I have this pain in my chest.</a:t>
            </a:r>
            <a:br/>
            <a:r>
              <a:t>D: OK, and where is the pain exactly?</a:t>
            </a:r>
            <a:br/>
            <a:r>
              <a:t>P: It's just right  over on the on the left side.</a:t>
            </a:r>
            <a:br/>
            <a:r>
              <a:t>D: OK, and when did this pain start?</a:t>
            </a:r>
            <a:br/>
            <a:r>
              <a:t>P: It started just 30 minutes ago.</a:t>
            </a:r>
            <a:br/>
            <a:r>
              <a:t>D: OK, and did it just come on randomly or were you doing something strenuous?</a:t>
            </a:r>
            <a:br/>
            <a:r>
              <a:t>P: I was just shovelling the driveway and it came on.</a:t>
            </a:r>
            <a:br/>
            <a:r>
              <a:t>D: OK, and has that pain been getting worse at all over the last half an hour?</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47472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474720" cy="365760"/>
          </a:xfrm>
          <a:prstGeom prst="rect">
            <a:avLst/>
          </a:prstGeom>
          <a:noFill/>
        </p:spPr>
        <p:txBody>
          <a:bodyPr wrap="square">
            <a:spAutoFit/>
          </a:bodyPr>
          <a:lstStyle/>
          <a:p>
            <a:pPr algn="ctr">
              <a:defRPr sz="1400" b="1">
                <a:solidFill>
                  <a:srgbClr val="1A1A2E"/>
                </a:solidFill>
                <a:latin typeface="Calibri"/>
              </a:defRPr>
            </a:pPr>
            <a:r>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Yeah, I have this pain in my chest.</a:t>
            </a:r>
            <a:br/>
            <a:r>
              <a:t>D: Okay, and where is the pain exactly?</a:t>
            </a:r>
            <a:br/>
            <a:r>
              <a:t>P: It's just right over on the left side.</a:t>
            </a:r>
            <a:br/>
            <a:r>
              <a:t>D: Okay, and when did this pain start?</a:t>
            </a:r>
            <a:br/>
            <a:r>
              <a:t>P: It started just 30 minutes ago.</a:t>
            </a:r>
            <a:br/>
            <a:r>
              <a:t>D: Okay, and did it just come on randomly</a:t>
            </a:r>
            <a:br/>
            <a:r>
              <a:t>D: or were you doing something strenuous?</a:t>
            </a:r>
            <a:br/>
            <a:r>
              <a:t>P: I was just shuttling the driveway and it came on.</a:t>
            </a:r>
            <a:br/>
            <a:r>
              <a:t>D: Okay, and has that pain been getting worse at all</a:t>
            </a:r>
            <a:br/>
            <a:r>
              <a:t>D: over the last one and a half an hour?</a:t>
            </a: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CAR0002: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Patient is a middle-aged male presenting with acute, worsening left-sided chest pain starting 30 minutes ago after physical exertion. He reports associated shortness of breath, a temperature of 38 degrees Celsius, and palpitations, with a history of high blood pressure, high cholesterol, and recent crystal meth use.</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The patient is a male who presents with acute onset of dull, pressure-like left-sided chest pain that began 30 minutes ago during physical exertion. He reports worsening pain with movement and when lying down, along with associated shortness of breath, palpitations, and a subjective fever of 38 degrees Celsius.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CAR0002: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gridCol w="4983480"/>
                <a:gridCol w="4983480"/>
              </a:tblGrid>
              <a:tr h="418011">
                <a:tc>
                  <a:txBody>
                    <a:bodyPr/>
                    <a:lstStyle/>
                    <a:p>
                      <a:pPr algn="ctr">
                        <a:defRPr sz="1200" b="1">
                          <a:solidFill>
                            <a:srgbClr val="4EC9F0"/>
                          </a:solidFill>
                          <a:latin typeface="Calibri"/>
                        </a:defRPr>
                      </a:pPr>
                      <a:r>
                        <a:t>SOAP Field</a:t>
                      </a:r>
                    </a:p>
                  </a:txBody>
                  <a:tcPr anchor="ctr" marL="73152" marR="73152" marT="36576" marB="36576">
                    <a:solidFill>
                      <a:srgbClr val="2A2A4A"/>
                    </a:solidFill>
                  </a:tcPr>
                </a:tc>
                <a:tc>
                  <a:txBody>
                    <a:bodyPr/>
                    <a:lstStyle/>
                    <a:p>
                      <a:pPr algn="ctr">
                        <a:defRPr sz="1200" b="1">
                          <a:solidFill>
                            <a:srgbClr val="50E3A0"/>
                          </a:solidFill>
                          <a:latin typeface="Calibri"/>
                        </a:defRPr>
                      </a:pPr>
                      <a:r>
                        <a:t>Ground Truth</a:t>
                      </a:r>
                    </a:p>
                  </a:txBody>
                  <a:tcPr anchor="ctr" marL="73152" marR="73152" marT="36576" marB="36576">
                    <a:solidFill>
                      <a:srgbClr val="2A2A4A"/>
                    </a:solidFill>
                  </a:tcPr>
                </a:tc>
                <a:tc>
                  <a:txBody>
                    <a:bodyPr/>
                    <a:lstStyle/>
                    <a:p>
                      <a:pPr algn="ctr">
                        <a:defRPr sz="1200" b="1">
                          <a:solidFill>
                            <a:srgbClr val="F09E4E"/>
                          </a:solidFill>
                          <a:latin typeface="Calibri"/>
                        </a:defRPr>
                      </a:pPr>
                      <a:r>
                        <a:t>Predicted (Gemini 3.6 Flash)</a:t>
                      </a:r>
                    </a:p>
                  </a:txBody>
                  <a:tcPr anchor="ctr" marL="73152" marR="73152" marT="36576" marB="36576">
                    <a:solidFill>
                      <a:srgbClr val="2A2A4A"/>
                    </a:solidFill>
                  </a:tcPr>
                </a:tc>
              </a:tr>
              <a:tr h="418011">
                <a:tc>
                  <a:txBody>
                    <a:bodyPr/>
                    <a:lstStyle/>
                    <a:p>
                      <a:pPr>
                        <a:defRPr sz="1000" b="1">
                          <a:solidFill>
                            <a:srgbClr val="4EC9F0"/>
                          </a:solidFill>
                          <a:latin typeface="Calibri"/>
                        </a:defRPr>
                      </a:pPr>
                      <a:r>
                        <a:t>Chief Complaint</a:t>
                      </a:r>
                    </a:p>
                  </a:txBody>
                  <a:tcPr anchor="t" marL="73152" marR="73152" marT="36576" marB="36576">
                    <a:solidFill>
                      <a:srgbClr val="1E1E36"/>
                    </a:solidFill>
                  </a:tcPr>
                </a:tc>
                <a:tc>
                  <a:txBody>
                    <a:bodyPr/>
                    <a:lstStyle/>
                    <a:p>
                      <a:pPr>
                        <a:defRPr sz="900">
                          <a:solidFill>
                            <a:srgbClr val="F0F0F5"/>
                          </a:solidFill>
                          <a:latin typeface="Calibri"/>
                        </a:defRPr>
                      </a:pPr>
                      <a:r>
                        <a:t>Chest pain</a:t>
                      </a:r>
                    </a:p>
                  </a:txBody>
                  <a:tcPr anchor="t" marL="73152" marR="73152" marT="36576" marB="36576">
                    <a:solidFill>
                      <a:srgbClr val="1E1E36"/>
                    </a:solidFill>
                  </a:tcPr>
                </a:tc>
                <a:tc>
                  <a:txBody>
                    <a:bodyPr/>
                    <a:lstStyle/>
                    <a:p>
                      <a:pPr>
                        <a:defRPr sz="900">
                          <a:solidFill>
                            <a:srgbClr val="F0F0F5"/>
                          </a:solidFill>
                          <a:latin typeface="Calibri"/>
                        </a:defRPr>
                      </a:pPr>
                      <a:r>
                        <a:t>Chest pain</a:t>
                      </a:r>
                    </a:p>
                  </a:txBody>
                  <a:tcPr anchor="t" marL="73152" marR="73152" marT="36576" marB="36576">
                    <a:solidFill>
                      <a:srgbClr val="1E1E36"/>
                    </a:solidFill>
                  </a:tcPr>
                </a:tc>
              </a:tr>
              <a:tr h="418011">
                <a:tc>
                  <a:txBody>
                    <a:bodyPr/>
                    <a:lstStyle/>
                    <a:p>
                      <a:pPr>
                        <a:defRPr sz="1000" b="1">
                          <a:solidFill>
                            <a:srgbClr val="4EC9F0"/>
                          </a:solidFill>
                          <a:latin typeface="Calibri"/>
                        </a:defRPr>
                      </a:pPr>
                      <a:r>
                        <a:t>Symptoms</a:t>
                      </a:r>
                    </a:p>
                  </a:txBody>
                  <a:tcPr anchor="t" marL="73152" marR="73152" marT="36576" marB="36576">
                    <a:solidFill>
                      <a:srgbClr val="262640"/>
                    </a:solidFill>
                  </a:tcPr>
                </a:tc>
                <a:tc>
                  <a:txBody>
                    <a:bodyPr/>
                    <a:lstStyle/>
                    <a:p>
                      <a:pPr>
                        <a:defRPr sz="900">
                          <a:solidFill>
                            <a:srgbClr val="F0F0F5"/>
                          </a:solidFill>
                          <a:latin typeface="Calibri"/>
                        </a:defRPr>
                      </a:pPr>
                      <a:r>
                        <a:t>chest pain | dull chest pressure | shortness of breath | feverish sensation (38C) | palpitations</a:t>
                      </a:r>
                    </a:p>
                  </a:txBody>
                  <a:tcPr anchor="t" marL="73152" marR="73152" marT="36576" marB="36576">
                    <a:solidFill>
                      <a:srgbClr val="262640"/>
                    </a:solidFill>
                  </a:tcPr>
                </a:tc>
                <a:tc>
                  <a:txBody>
                    <a:bodyPr/>
                    <a:lstStyle/>
                    <a:p>
                      <a:pPr>
                        <a:defRPr sz="900">
                          <a:solidFill>
                            <a:srgbClr val="F0F0F5"/>
                          </a:solidFill>
                          <a:latin typeface="Calibri"/>
                        </a:defRPr>
                      </a:pPr>
                      <a:r>
                        <a:t>chest pain (dull/pressure) | shortness of breath | feverish sensation (38 degrees) | palpitations</a:t>
                      </a:r>
                    </a:p>
                  </a:txBody>
                  <a:tcPr anchor="t" marL="73152" marR="73152" marT="36576" marB="36576">
                    <a:solidFill>
                      <a:srgbClr val="262640"/>
                    </a:solidFill>
                  </a:tcPr>
                </a:tc>
              </a:tr>
              <a:tr h="418011">
                <a:tc>
                  <a:txBody>
                    <a:bodyPr/>
                    <a:lstStyle/>
                    <a:p>
                      <a:pPr>
                        <a:defRPr sz="1000" b="1">
                          <a:solidFill>
                            <a:srgbClr val="4EC9F0"/>
                          </a:solidFill>
                          <a:latin typeface="Calibri"/>
                        </a:defRPr>
                      </a:pPr>
                      <a:r>
                        <a:t>Symptom Onset</a:t>
                      </a:r>
                    </a:p>
                  </a:txBody>
                  <a:tcPr anchor="t" marL="73152" marR="73152" marT="36576" marB="36576">
                    <a:solidFill>
                      <a:srgbClr val="1E1E36"/>
                    </a:solidFill>
                  </a:tcPr>
                </a:tc>
                <a:tc>
                  <a:txBody>
                    <a:bodyPr/>
                    <a:lstStyle/>
                    <a:p>
                      <a:pPr>
                        <a:defRPr sz="900">
                          <a:solidFill>
                            <a:srgbClr val="F0F0F5"/>
                          </a:solidFill>
                          <a:latin typeface="Calibri"/>
                        </a:defRPr>
                      </a:pPr>
                      <a:r>
                        <a:t>30 minutes ago</a:t>
                      </a:r>
                    </a:p>
                  </a:txBody>
                  <a:tcPr anchor="t" marL="73152" marR="73152" marT="36576" marB="36576">
                    <a:solidFill>
                      <a:srgbClr val="1E1E36"/>
                    </a:solidFill>
                  </a:tcPr>
                </a:tc>
                <a:tc>
                  <a:txBody>
                    <a:bodyPr/>
                    <a:lstStyle/>
                    <a:p>
                      <a:pPr>
                        <a:defRPr sz="900">
                          <a:solidFill>
                            <a:srgbClr val="F0F0F5"/>
                          </a:solidFill>
                          <a:latin typeface="Calibri"/>
                        </a:defRPr>
                      </a:pPr>
                      <a:r>
                        <a:t>30 minutes ago</a:t>
                      </a:r>
                    </a:p>
                  </a:txBody>
                  <a:tcPr anchor="t" marL="73152" marR="73152" marT="36576" marB="36576">
                    <a:solidFill>
                      <a:srgbClr val="1E1E36"/>
                    </a:solidFill>
                  </a:tcPr>
                </a:tc>
              </a:tr>
              <a:tr h="418011">
                <a:tc>
                  <a:txBody>
                    <a:bodyPr/>
                    <a:lstStyle/>
                    <a:p>
                      <a:pPr>
                        <a:defRPr sz="1000" b="1">
                          <a:solidFill>
                            <a:srgbClr val="4EC9F0"/>
                          </a:solidFill>
                          <a:latin typeface="Calibri"/>
                        </a:defRPr>
                      </a:pPr>
                      <a:r>
                        <a:t>Medical History</a:t>
                      </a:r>
                    </a:p>
                  </a:txBody>
                  <a:tcPr anchor="t" marL="73152" marR="73152" marT="36576" marB="36576">
                    <a:solidFill>
                      <a:srgbClr val="262640"/>
                    </a:solidFill>
                  </a:tcPr>
                </a:tc>
                <a:tc>
                  <a:txBody>
                    <a:bodyPr/>
                    <a:lstStyle/>
                    <a:p>
                      <a:pPr>
                        <a:defRPr sz="900">
                          <a:solidFill>
                            <a:srgbClr val="F0F0F5"/>
                          </a:solidFill>
                          <a:latin typeface="Calibri"/>
                        </a:defRPr>
                      </a:pPr>
                      <a:r>
                        <a:t>high blood pressure | high cholesterol</a:t>
                      </a:r>
                    </a:p>
                  </a:txBody>
                  <a:tcPr anchor="t" marL="73152" marR="73152" marT="36576" marB="36576">
                    <a:solidFill>
                      <a:srgbClr val="262640"/>
                    </a:solidFill>
                  </a:tcPr>
                </a:tc>
                <a:tc>
                  <a:txBody>
                    <a:bodyPr/>
                    <a:lstStyle/>
                    <a:p>
                      <a:pPr>
                        <a:defRPr sz="900">
                          <a:solidFill>
                            <a:srgbClr val="F0F0F5"/>
                          </a:solidFill>
                          <a:latin typeface="Calibri"/>
                        </a:defRPr>
                      </a:pPr>
                      <a:r>
                        <a:t>high cholesterol | high blood pressure</a:t>
                      </a:r>
                    </a:p>
                  </a:txBody>
                  <a:tcPr anchor="t" marL="73152" marR="73152" marT="36576" marB="36576">
                    <a:solidFill>
                      <a:srgbClr val="262640"/>
                    </a:solidFill>
                  </a:tcPr>
                </a:tc>
              </a:tr>
              <a:tr h="418011">
                <a:tc>
                  <a:txBody>
                    <a:bodyPr/>
                    <a:lstStyle/>
                    <a:p>
                      <a:pPr>
                        <a:defRPr sz="1000" b="1">
                          <a:solidFill>
                            <a:srgbClr val="4EC9F0"/>
                          </a:solidFill>
                          <a:latin typeface="Calibri"/>
                        </a:defRPr>
                      </a:pPr>
                      <a:r>
                        <a:t>Medications</a:t>
                      </a:r>
                    </a:p>
                  </a:txBody>
                  <a:tcPr anchor="t" marL="73152" marR="73152" marT="36576" marB="36576">
                    <a:solidFill>
                      <a:srgbClr val="1E1E36"/>
                    </a:solidFill>
                  </a:tcPr>
                </a:tc>
                <a:tc>
                  <a:txBody>
                    <a:bodyPr/>
                    <a:lstStyle/>
                    <a:p>
                      <a:pPr>
                        <a:defRPr sz="900">
                          <a:solidFill>
                            <a:srgbClr val="F0F0F5"/>
                          </a:solidFill>
                          <a:latin typeface="Calibri"/>
                        </a:defRPr>
                      </a:pPr>
                      <a:r>
                        <a:t>Rosuvastatin | Lisinopril | multivitamin</a:t>
                      </a:r>
                    </a:p>
                  </a:txBody>
                  <a:tcPr anchor="t" marL="73152" marR="73152" marT="36576" marB="36576">
                    <a:solidFill>
                      <a:srgbClr val="1E1E36"/>
                    </a:solidFill>
                  </a:tcPr>
                </a:tc>
                <a:tc>
                  <a:txBody>
                    <a:bodyPr/>
                    <a:lstStyle/>
                    <a:p>
                      <a:pPr>
                        <a:defRPr sz="900">
                          <a:solidFill>
                            <a:srgbClr val="F0F0F5"/>
                          </a:solidFill>
                          <a:latin typeface="Calibri"/>
                        </a:defRPr>
                      </a:pPr>
                      <a:r>
                        <a:t>rosuvastatin | lacetipro | multivitamin</a:t>
                      </a:r>
                    </a:p>
                  </a:txBody>
                  <a:tcPr anchor="t" marL="73152" marR="73152" marT="36576" marB="36576">
                    <a:solidFill>
                      <a:srgbClr val="1E1E36"/>
                    </a:solidFill>
                  </a:tcPr>
                </a:tc>
              </a:tr>
              <a:tr h="418011">
                <a:tc>
                  <a:txBody>
                    <a:bodyPr/>
                    <a:lstStyle/>
                    <a:p>
                      <a:pPr>
                        <a:defRPr sz="1000" b="1">
                          <a:solidFill>
                            <a:srgbClr val="4EC9F0"/>
                          </a:solidFill>
                          <a:latin typeface="Calibri"/>
                        </a:defRPr>
                      </a:pPr>
                      <a:r>
                        <a:t>Allergies</a:t>
                      </a:r>
                    </a:p>
                  </a:txBody>
                  <a:tcPr anchor="t" marL="73152" marR="73152" marT="36576" marB="36576">
                    <a:solidFill>
                      <a:srgbClr val="262640"/>
                    </a:solidFill>
                  </a:tcPr>
                </a:tc>
                <a:tc>
                  <a:txBody>
                    <a:bodyPr/>
                    <a:lstStyle/>
                    <a:p>
                      <a:pPr>
                        <a:defRPr sz="900">
                          <a:solidFill>
                            <a:srgbClr val="F0F0F5"/>
                          </a:solidFill>
                          <a:latin typeface="Calibri"/>
                        </a:defRPr>
                      </a:pPr>
                      <a:r>
                        <a:t>none</a:t>
                      </a:r>
                    </a:p>
                  </a:txBody>
                  <a:tcPr anchor="t" marL="73152" marR="73152" marT="36576" marB="36576">
                    <a:solidFill>
                      <a:srgbClr val="262640"/>
                    </a:solidFill>
                  </a:tcPr>
                </a:tc>
                <a:tc>
                  <a:txBody>
                    <a:bodyPr/>
                    <a:lstStyle/>
                    <a:p>
                      <a:pPr>
                        <a:defRPr sz="900">
                          <a:solidFill>
                            <a:srgbClr val="F0F0F5"/>
                          </a:solidFill>
                          <a:latin typeface="Calibri"/>
                        </a:defRPr>
                      </a:pPr>
                      <a:r>
                        <a:t>none</a:t>
                      </a:r>
                    </a:p>
                  </a:txBody>
                  <a:tcPr anchor="t" marL="73152" marR="73152" marT="36576" marB="36576">
                    <a:solidFill>
                      <a:srgbClr val="262640"/>
                    </a:solidFill>
                  </a:tcPr>
                </a:tc>
              </a:tr>
              <a:tr h="418011">
                <a:tc>
                  <a:txBody>
                    <a:bodyPr/>
                    <a:lstStyle/>
                    <a:p>
                      <a:pPr>
                        <a:defRPr sz="1000" b="1">
                          <a:solidFill>
                            <a:srgbClr val="4EC9F0"/>
                          </a:solidFill>
                          <a:latin typeface="Calibri"/>
                        </a:defRPr>
                      </a:pPr>
                      <a:r>
                        <a:t>Exam Findings</a:t>
                      </a:r>
                    </a:p>
                  </a:txBody>
                  <a:tcPr anchor="t" marL="73152" marR="73152" marT="36576" marB="36576">
                    <a:solidFill>
                      <a:srgbClr val="1E1E36"/>
                    </a:solidFill>
                  </a:tcPr>
                </a:tc>
                <a:tc>
                  <a:txBody>
                    <a:bodyPr/>
                    <a:lstStyle/>
                    <a:p>
                      <a:pPr>
                        <a:defRPr sz="900">
                          <a:solidFill>
                            <a:srgbClr val="F0F0F5"/>
                          </a:solidFill>
                          <a:latin typeface="Calibri"/>
                        </a:defRPr>
                      </a:pPr>
                      <a:r>
                        <a:t>left-sided chest pain | dull pressure feeling | shortness of breath | temperature 38C | palpitations</a:t>
                      </a:r>
                    </a:p>
                  </a:txBody>
                  <a:tcPr anchor="t" marL="73152" marR="73152" marT="36576" marB="36576">
                    <a:solidFill>
                      <a:srgbClr val="1E1E36"/>
                    </a:solidFill>
                  </a:tcPr>
                </a:tc>
                <a:tc>
                  <a:txBody>
                    <a:bodyPr/>
                    <a:lstStyle/>
                    <a:p>
                      <a:pPr>
                        <a:defRPr sz="900">
                          <a:solidFill>
                            <a:srgbClr val="F0F0F5"/>
                          </a:solidFill>
                          <a:latin typeface="Calibri"/>
                        </a:defRPr>
                      </a:pPr>
                      <a:r>
                        <a:t>subjective fever (38C measured) | tachycardia/palpitations reported</a:t>
                      </a:r>
                    </a:p>
                  </a:txBody>
                  <a:tcPr anchor="t" marL="73152" marR="73152" marT="36576" marB="36576">
                    <a:solidFill>
                      <a:srgbClr val="1E1E36"/>
                    </a:solidFill>
                  </a:tcPr>
                </a:tc>
              </a:tr>
              <a:tr h="418011">
                <a:tc>
                  <a:txBody>
                    <a:bodyPr/>
                    <a:lstStyle/>
                    <a:p>
                      <a:pPr>
                        <a:defRPr sz="1000" b="1">
                          <a:solidFill>
                            <a:srgbClr val="4EC9F0"/>
                          </a:solidFill>
                          <a:latin typeface="Calibri"/>
                        </a:defRPr>
                      </a:pPr>
                      <a:r>
                        <a:t>Diagnosis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Diff. Diagnosis</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r>
              <a:tr h="418011">
                <a:tc>
                  <a:txBody>
                    <a:bodyPr/>
                    <a:lstStyle/>
                    <a:p>
                      <a:pPr>
                        <a:defRPr sz="1000" b="1">
                          <a:solidFill>
                            <a:srgbClr val="4EC9F0"/>
                          </a:solidFill>
                          <a:latin typeface="Calibri"/>
                        </a:defRPr>
                      </a:pPr>
                      <a:r>
                        <a:t>Prescribed Meds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Treatment Plan</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r>
              <a:tr h="418011">
                <a:tc>
                  <a:txBody>
                    <a:bodyPr/>
                    <a:lstStyle/>
                    <a:p>
                      <a:pPr>
                        <a:defRPr sz="1000" b="1">
                          <a:solidFill>
                            <a:srgbClr val="4EC9F0"/>
                          </a:solidFill>
                          <a:latin typeface="Calibri"/>
                        </a:defRPr>
                      </a:pPr>
                      <a:r>
                        <a:t>Investigations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7">
                <a:tc>
                  <a:txBody>
                    <a:bodyPr/>
                    <a:lstStyle/>
                    <a:p>
                      <a:pPr>
                        <a:defRPr sz="1000" b="1">
                          <a:solidFill>
                            <a:srgbClr val="4EC9F0"/>
                          </a:solidFill>
                          <a:latin typeface="Calibri"/>
                        </a:defRPr>
                      </a:pPr>
                      <a:r>
                        <a:t>Follow Up</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CAR0003: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Yeah, I've just been feeling breathless and it's getting worse. So I wanted to check it out.</a:t>
            </a:r>
            <a:br/>
            <a:r>
              <a:t>D: OK, and when did you first start feeling breathless?</a:t>
            </a:r>
            <a:br/>
            <a:r>
              <a:t>P: About two months ago.</a:t>
            </a:r>
            <a:br/>
            <a:r>
              <a:t>D: OK, and did it come on about like gradually through time or suddenly just happened?</a:t>
            </a:r>
            <a:br/>
            <a:r>
              <a:t>P: I guess gradually, yeah.</a:t>
            </a:r>
            <a:br/>
            <a:r>
              <a:t>D: OK. And, do you feel, uh, how often do you feel breathless?</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47472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474720" cy="365760"/>
          </a:xfrm>
          <a:prstGeom prst="rect">
            <a:avLst/>
          </a:prstGeom>
          <a:noFill/>
        </p:spPr>
        <p:txBody>
          <a:bodyPr wrap="square">
            <a:spAutoFit/>
          </a:bodyPr>
          <a:lstStyle/>
          <a:p>
            <a:pPr algn="ctr">
              <a:defRPr sz="1400" b="1">
                <a:solidFill>
                  <a:srgbClr val="1A1A2E"/>
                </a:solidFill>
                <a:latin typeface="Calibri"/>
              </a:defRPr>
            </a:pPr>
            <a:r>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Yeah, I've just been feeling breathless and it's getting worse, so I wanted to check it</a:t>
            </a:r>
            <a:br/>
            <a:r>
              <a:t>P: out.</a:t>
            </a:r>
            <a:br/>
            <a:r>
              <a:t>D: Okay.</a:t>
            </a:r>
            <a:br/>
            <a:r>
              <a:t>D: And when did you first start feeling breathless?</a:t>
            </a:r>
            <a:br/>
            <a:r>
              <a:t>P: About two months ago.</a:t>
            </a:r>
            <a:br/>
            <a:r>
              <a:t>D: Okay.</a:t>
            </a:r>
            <a:br/>
            <a:r>
              <a:t>D: And did it come on about like gradually through time or suddenly just happened?</a:t>
            </a:r>
            <a:br/>
            <a:r>
              <a:t>P: I guess gradually, yeah.</a:t>
            </a:r>
            <a:br/>
            <a:r>
              <a:t>D: And how often do you feel breathless?</a:t>
            </a:r>
            <a:br/>
            <a:r>
              <a:t>P: I'd say it's worse when I walk more than 50 meters.</a:t>
            </a:r>
            <a:br/>
            <a:r>
              <a:t>P: That's kind of the main trigger, just exertion.</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CAR0003: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The patient, with a history of heart attack, hypertension, diabetes, and hyperlipidemia, presents with a two-month history of progressive exertional dyspnea, orthopnea, and lower extremity edema. The doctor is investigating for congestive heart failure and plans to order diagnostic tests to evaluate for fluid overload and heart function.</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Patient presented with a two-month history of progressive exertional breathlessness, orthopnea, and lower extremity swelling. Given the history of prior myocardial infarction, current hypertension, hyperlipidemia, and clinical presentation of frothy sputum and positional dyspnea, the doctor is evaluating for congestive heart failure.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CAR0003: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gridCol w="4983480"/>
                <a:gridCol w="4983480"/>
              </a:tblGrid>
              <a:tr h="418011">
                <a:tc>
                  <a:txBody>
                    <a:bodyPr/>
                    <a:lstStyle/>
                    <a:p>
                      <a:pPr algn="ctr">
                        <a:defRPr sz="1200" b="1">
                          <a:solidFill>
                            <a:srgbClr val="4EC9F0"/>
                          </a:solidFill>
                          <a:latin typeface="Calibri"/>
                        </a:defRPr>
                      </a:pPr>
                      <a:r>
                        <a:t>SOAP Field</a:t>
                      </a:r>
                    </a:p>
                  </a:txBody>
                  <a:tcPr anchor="ctr" marL="73152" marR="73152" marT="36576" marB="36576">
                    <a:solidFill>
                      <a:srgbClr val="2A2A4A"/>
                    </a:solidFill>
                  </a:tcPr>
                </a:tc>
                <a:tc>
                  <a:txBody>
                    <a:bodyPr/>
                    <a:lstStyle/>
                    <a:p>
                      <a:pPr algn="ctr">
                        <a:defRPr sz="1200" b="1">
                          <a:solidFill>
                            <a:srgbClr val="50E3A0"/>
                          </a:solidFill>
                          <a:latin typeface="Calibri"/>
                        </a:defRPr>
                      </a:pPr>
                      <a:r>
                        <a:t>Ground Truth</a:t>
                      </a:r>
                    </a:p>
                  </a:txBody>
                  <a:tcPr anchor="ctr" marL="73152" marR="73152" marT="36576" marB="36576">
                    <a:solidFill>
                      <a:srgbClr val="2A2A4A"/>
                    </a:solidFill>
                  </a:tcPr>
                </a:tc>
                <a:tc>
                  <a:txBody>
                    <a:bodyPr/>
                    <a:lstStyle/>
                    <a:p>
                      <a:pPr algn="ctr">
                        <a:defRPr sz="1200" b="1">
                          <a:solidFill>
                            <a:srgbClr val="F09E4E"/>
                          </a:solidFill>
                          <a:latin typeface="Calibri"/>
                        </a:defRPr>
                      </a:pPr>
                      <a:r>
                        <a:t>Predicted (Gemini 3.6 Flash)</a:t>
                      </a:r>
                    </a:p>
                  </a:txBody>
                  <a:tcPr anchor="ctr" marL="73152" marR="73152" marT="36576" marB="36576">
                    <a:solidFill>
                      <a:srgbClr val="2A2A4A"/>
                    </a:solidFill>
                  </a:tcPr>
                </a:tc>
              </a:tr>
              <a:tr h="418011">
                <a:tc>
                  <a:txBody>
                    <a:bodyPr/>
                    <a:lstStyle/>
                    <a:p>
                      <a:pPr>
                        <a:defRPr sz="1000" b="1">
                          <a:solidFill>
                            <a:srgbClr val="4EC9F0"/>
                          </a:solidFill>
                          <a:latin typeface="Calibri"/>
                        </a:defRPr>
                      </a:pPr>
                      <a:r>
                        <a:t>Chief Complaint</a:t>
                      </a:r>
                    </a:p>
                  </a:txBody>
                  <a:tcPr anchor="t" marL="73152" marR="73152" marT="36576" marB="36576">
                    <a:solidFill>
                      <a:srgbClr val="1E1E36"/>
                    </a:solidFill>
                  </a:tcPr>
                </a:tc>
                <a:tc>
                  <a:txBody>
                    <a:bodyPr/>
                    <a:lstStyle/>
                    <a:p>
                      <a:pPr>
                        <a:defRPr sz="900">
                          <a:solidFill>
                            <a:srgbClr val="F0F0F5"/>
                          </a:solidFill>
                          <a:latin typeface="Calibri"/>
                        </a:defRPr>
                      </a:pPr>
                      <a:r>
                        <a:t>progressive breathlessness</a:t>
                      </a:r>
                    </a:p>
                  </a:txBody>
                  <a:tcPr anchor="t" marL="73152" marR="73152" marT="36576" marB="36576">
                    <a:solidFill>
                      <a:srgbClr val="1E1E36"/>
                    </a:solidFill>
                  </a:tcPr>
                </a:tc>
                <a:tc>
                  <a:txBody>
                    <a:bodyPr/>
                    <a:lstStyle/>
                    <a:p>
                      <a:pPr>
                        <a:defRPr sz="900">
                          <a:solidFill>
                            <a:srgbClr val="F0F0F5"/>
                          </a:solidFill>
                          <a:latin typeface="Calibri"/>
                        </a:defRPr>
                      </a:pPr>
                      <a:r>
                        <a:t>breathless and it's getting worse</a:t>
                      </a:r>
                    </a:p>
                  </a:txBody>
                  <a:tcPr anchor="t" marL="73152" marR="73152" marT="36576" marB="36576">
                    <a:solidFill>
                      <a:srgbClr val="1E1E36"/>
                    </a:solidFill>
                  </a:tcPr>
                </a:tc>
              </a:tr>
              <a:tr h="418011">
                <a:tc>
                  <a:txBody>
                    <a:bodyPr/>
                    <a:lstStyle/>
                    <a:p>
                      <a:pPr>
                        <a:defRPr sz="1000" b="1">
                          <a:solidFill>
                            <a:srgbClr val="4EC9F0"/>
                          </a:solidFill>
                          <a:latin typeface="Calibri"/>
                        </a:defRPr>
                      </a:pPr>
                      <a:r>
                        <a:t>Symptoms</a:t>
                      </a:r>
                    </a:p>
                  </a:txBody>
                  <a:tcPr anchor="t" marL="73152" marR="73152" marT="36576" marB="36576">
                    <a:solidFill>
                      <a:srgbClr val="262640"/>
                    </a:solidFill>
                  </a:tcPr>
                </a:tc>
                <a:tc>
                  <a:txBody>
                    <a:bodyPr/>
                    <a:lstStyle/>
                    <a:p>
                      <a:pPr>
                        <a:defRPr sz="900">
                          <a:solidFill>
                            <a:srgbClr val="F0F0F5"/>
                          </a:solidFill>
                          <a:latin typeface="Calibri"/>
                        </a:defRPr>
                      </a:pPr>
                      <a:r>
                        <a:t>breathlessness | exertional dyspnea | cough | frothy sputum | orthopnea (gasping for air when lying flat) | fatigue | lower extremity swelli...</a:t>
                      </a:r>
                    </a:p>
                  </a:txBody>
                  <a:tcPr anchor="t" marL="73152" marR="73152" marT="36576" marB="36576">
                    <a:solidFill>
                      <a:srgbClr val="262640"/>
                    </a:solidFill>
                  </a:tcPr>
                </a:tc>
                <a:tc>
                  <a:txBody>
                    <a:bodyPr/>
                    <a:lstStyle/>
                    <a:p>
                      <a:pPr>
                        <a:defRPr sz="900">
                          <a:solidFill>
                            <a:srgbClr val="F0F0F5"/>
                          </a:solidFill>
                          <a:latin typeface="Calibri"/>
                        </a:defRPr>
                      </a:pPr>
                      <a:r>
                        <a:t>breathlessness | exertional dyspnea | cough | frothy sputum | orthopnea (gasping for air when laying down) | fatigue | swelling in legs</a:t>
                      </a:r>
                    </a:p>
                  </a:txBody>
                  <a:tcPr anchor="t" marL="73152" marR="73152" marT="36576" marB="36576">
                    <a:solidFill>
                      <a:srgbClr val="262640"/>
                    </a:solidFill>
                  </a:tcPr>
                </a:tc>
              </a:tr>
              <a:tr h="418011">
                <a:tc>
                  <a:txBody>
                    <a:bodyPr/>
                    <a:lstStyle/>
                    <a:p>
                      <a:pPr>
                        <a:defRPr sz="1000" b="1">
                          <a:solidFill>
                            <a:srgbClr val="4EC9F0"/>
                          </a:solidFill>
                          <a:latin typeface="Calibri"/>
                        </a:defRPr>
                      </a:pPr>
                      <a:r>
                        <a:t>Symptom Onset</a:t>
                      </a:r>
                    </a:p>
                  </a:txBody>
                  <a:tcPr anchor="t" marL="73152" marR="73152" marT="36576" marB="36576">
                    <a:solidFill>
                      <a:srgbClr val="1E1E36"/>
                    </a:solidFill>
                  </a:tcPr>
                </a:tc>
                <a:tc>
                  <a:txBody>
                    <a:bodyPr/>
                    <a:lstStyle/>
                    <a:p>
                      <a:pPr>
                        <a:defRPr sz="900">
                          <a:solidFill>
                            <a:srgbClr val="F0F0F5"/>
                          </a:solidFill>
                          <a:latin typeface="Calibri"/>
                        </a:defRPr>
                      </a:pPr>
                      <a:r>
                        <a:t>2 months ago</a:t>
                      </a:r>
                    </a:p>
                  </a:txBody>
                  <a:tcPr anchor="t" marL="73152" marR="73152" marT="36576" marB="36576">
                    <a:solidFill>
                      <a:srgbClr val="1E1E36"/>
                    </a:solidFill>
                  </a:tcPr>
                </a:tc>
                <a:tc>
                  <a:txBody>
                    <a:bodyPr/>
                    <a:lstStyle/>
                    <a:p>
                      <a:pPr>
                        <a:defRPr sz="900">
                          <a:solidFill>
                            <a:srgbClr val="F0F0F5"/>
                          </a:solidFill>
                          <a:latin typeface="Calibri"/>
                        </a:defRPr>
                      </a:pPr>
                      <a:r>
                        <a:t>two months ago</a:t>
                      </a:r>
                    </a:p>
                  </a:txBody>
                  <a:tcPr anchor="t" marL="73152" marR="73152" marT="36576" marB="36576">
                    <a:solidFill>
                      <a:srgbClr val="1E1E36"/>
                    </a:solidFill>
                  </a:tcPr>
                </a:tc>
              </a:tr>
              <a:tr h="418011">
                <a:tc>
                  <a:txBody>
                    <a:bodyPr/>
                    <a:lstStyle/>
                    <a:p>
                      <a:pPr>
                        <a:defRPr sz="1000" b="1">
                          <a:solidFill>
                            <a:srgbClr val="4EC9F0"/>
                          </a:solidFill>
                          <a:latin typeface="Calibri"/>
                        </a:defRPr>
                      </a:pPr>
                      <a:r>
                        <a:t>Medical History</a:t>
                      </a:r>
                    </a:p>
                  </a:txBody>
                  <a:tcPr anchor="t" marL="73152" marR="73152" marT="36576" marB="36576">
                    <a:solidFill>
                      <a:srgbClr val="262640"/>
                    </a:solidFill>
                  </a:tcPr>
                </a:tc>
                <a:tc>
                  <a:txBody>
                    <a:bodyPr/>
                    <a:lstStyle/>
                    <a:p>
                      <a:pPr>
                        <a:defRPr sz="900">
                          <a:solidFill>
                            <a:srgbClr val="F0F0F5"/>
                          </a:solidFill>
                          <a:latin typeface="Calibri"/>
                        </a:defRPr>
                      </a:pPr>
                      <a:r>
                        <a:t>high blood pressure | diabetes | high cholesterol | heart attack (4 years ago) | stent placement</a:t>
                      </a:r>
                    </a:p>
                  </a:txBody>
                  <a:tcPr anchor="t" marL="73152" marR="73152" marT="36576" marB="36576">
                    <a:solidFill>
                      <a:srgbClr val="262640"/>
                    </a:solidFill>
                  </a:tcPr>
                </a:tc>
                <a:tc>
                  <a:txBody>
                    <a:bodyPr/>
                    <a:lstStyle/>
                    <a:p>
                      <a:pPr>
                        <a:defRPr sz="900">
                          <a:solidFill>
                            <a:srgbClr val="F0F0F5"/>
                          </a:solidFill>
                          <a:latin typeface="Calibri"/>
                        </a:defRPr>
                      </a:pPr>
                      <a:r>
                        <a:t>high blood pressure | diabetes | high cholesterol | heart attack (four years ago, treated with stent)</a:t>
                      </a:r>
                    </a:p>
                  </a:txBody>
                  <a:tcPr anchor="t" marL="73152" marR="73152" marT="36576" marB="36576">
                    <a:solidFill>
                      <a:srgbClr val="262640"/>
                    </a:solidFill>
                  </a:tcPr>
                </a:tc>
              </a:tr>
              <a:tr h="418011">
                <a:tc>
                  <a:txBody>
                    <a:bodyPr/>
                    <a:lstStyle/>
                    <a:p>
                      <a:pPr>
                        <a:defRPr sz="1000" b="1">
                          <a:solidFill>
                            <a:srgbClr val="4EC9F0"/>
                          </a:solidFill>
                          <a:latin typeface="Calibri"/>
                        </a:defRPr>
                      </a:pPr>
                      <a:r>
                        <a:t>Medications</a:t>
                      </a:r>
                    </a:p>
                  </a:txBody>
                  <a:tcPr anchor="t" marL="73152" marR="73152" marT="36576" marB="36576">
                    <a:solidFill>
                      <a:srgbClr val="1E1E36"/>
                    </a:solidFill>
                  </a:tcPr>
                </a:tc>
                <a:tc>
                  <a:txBody>
                    <a:bodyPr/>
                    <a:lstStyle/>
                    <a:p>
                      <a:pPr>
                        <a:defRPr sz="900">
                          <a:solidFill>
                            <a:srgbClr val="F0F0F5"/>
                          </a:solidFill>
                          <a:latin typeface="Calibri"/>
                        </a:defRPr>
                      </a:pPr>
                      <a:r>
                        <a:t>aspirin | ramipril | simvastatin</a:t>
                      </a:r>
                    </a:p>
                  </a:txBody>
                  <a:tcPr anchor="t" marL="73152" marR="73152" marT="36576" marB="36576">
                    <a:solidFill>
                      <a:srgbClr val="1E1E36"/>
                    </a:solidFill>
                  </a:tcPr>
                </a:tc>
                <a:tc>
                  <a:txBody>
                    <a:bodyPr/>
                    <a:lstStyle/>
                    <a:p>
                      <a:pPr>
                        <a:defRPr sz="900">
                          <a:solidFill>
                            <a:srgbClr val="F0F0F5"/>
                          </a:solidFill>
                          <a:latin typeface="Calibri"/>
                        </a:defRPr>
                      </a:pPr>
                      <a:r>
                        <a:t>aspirin | ramipril [STT-corrected] | simvastatin [STT-corrected]</a:t>
                      </a:r>
                    </a:p>
                  </a:txBody>
                  <a:tcPr anchor="t" marL="73152" marR="73152" marT="36576" marB="36576">
                    <a:solidFill>
                      <a:srgbClr val="1E1E36"/>
                    </a:solidFill>
                  </a:tcPr>
                </a:tc>
              </a:tr>
              <a:tr h="418011">
                <a:tc>
                  <a:txBody>
                    <a:bodyPr/>
                    <a:lstStyle/>
                    <a:p>
                      <a:pPr>
                        <a:defRPr sz="1000" b="1">
                          <a:solidFill>
                            <a:srgbClr val="4EC9F0"/>
                          </a:solidFill>
                          <a:latin typeface="Calibri"/>
                        </a:defRPr>
                      </a:pPr>
                      <a:r>
                        <a:t>Allergies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Exam Findings</a:t>
                      </a:r>
                    </a:p>
                  </a:txBody>
                  <a:tcPr anchor="t" marL="73152" marR="73152" marT="36576" marB="36576">
                    <a:solidFill>
                      <a:srgbClr val="1E1E36"/>
                    </a:solidFill>
                  </a:tcPr>
                </a:tc>
                <a:tc>
                  <a:txBody>
                    <a:bodyPr/>
                    <a:lstStyle/>
                    <a:p>
                      <a:pPr>
                        <a:defRPr sz="900">
                          <a:solidFill>
                            <a:srgbClr val="F0F0F5"/>
                          </a:solidFill>
                          <a:latin typeface="Calibri"/>
                        </a:defRPr>
                      </a:pPr>
                      <a:r>
                        <a:t>lower extremity edema noted by patient</a:t>
                      </a:r>
                    </a:p>
                  </a:txBody>
                  <a:tcPr anchor="t" marL="73152" marR="73152" marT="36576" marB="36576">
                    <a:solidFill>
                      <a:srgbClr val="1E1E36"/>
                    </a:solidFill>
                  </a:tcPr>
                </a:tc>
                <a:tc>
                  <a:txBody>
                    <a:bodyPr/>
                    <a:lstStyle/>
                    <a:p>
                      <a:pPr>
                        <a:defRPr sz="900">
                          <a:solidFill>
                            <a:srgbClr val="F0F0F5"/>
                          </a:solidFill>
                          <a:latin typeface="Calibri"/>
                        </a:defRPr>
                      </a:pPr>
                      <a:r>
                        <a:t>swelling around legs</a:t>
                      </a:r>
                    </a:p>
                  </a:txBody>
                  <a:tcPr anchor="t" marL="73152" marR="73152" marT="36576" marB="36576">
                    <a:solidFill>
                      <a:srgbClr val="1E1E36"/>
                    </a:solidFill>
                  </a:tcPr>
                </a:tc>
              </a:tr>
              <a:tr h="418011">
                <a:tc>
                  <a:txBody>
                    <a:bodyPr/>
                    <a:lstStyle/>
                    <a:p>
                      <a:pPr>
                        <a:defRPr sz="1000" b="1">
                          <a:solidFill>
                            <a:srgbClr val="4EC9F0"/>
                          </a:solidFill>
                          <a:latin typeface="Calibri"/>
                        </a:defRPr>
                      </a:pPr>
                      <a:r>
                        <a:t>Diagnosis</a:t>
                      </a:r>
                    </a:p>
                  </a:txBody>
                  <a:tcPr anchor="t" marL="73152" marR="73152" marT="36576" marB="36576">
                    <a:solidFill>
                      <a:srgbClr val="262640"/>
                    </a:solidFill>
                  </a:tcPr>
                </a:tc>
                <a:tc>
                  <a:txBody>
                    <a:bodyPr/>
                    <a:lstStyle/>
                    <a:p>
                      <a:pPr>
                        <a:defRPr sz="900">
                          <a:solidFill>
                            <a:srgbClr val="F0F0F5"/>
                          </a:solidFill>
                          <a:latin typeface="Calibri"/>
                        </a:defRPr>
                      </a:pPr>
                      <a:r>
                        <a:t>congestive heart failure (suspected)</a:t>
                      </a:r>
                    </a:p>
                  </a:txBody>
                  <a:tcPr anchor="t" marL="73152" marR="73152" marT="36576" marB="36576">
                    <a:solidFill>
                      <a:srgbClr val="262640"/>
                    </a:solidFill>
                  </a:tcPr>
                </a:tc>
                <a:tc>
                  <a:txBody>
                    <a:bodyPr/>
                    <a:lstStyle/>
                    <a:p>
                      <a:pPr>
                        <a:defRPr sz="900">
                          <a:solidFill>
                            <a:srgbClr val="F0F0F5"/>
                          </a:solidFill>
                          <a:latin typeface="Calibri"/>
                        </a:defRPr>
                      </a:pPr>
                      <a:r>
                        <a:t>congestive heart failure (suspected)</a:t>
                      </a:r>
                    </a:p>
                  </a:txBody>
                  <a:tcPr anchor="t" marL="73152" marR="73152" marT="36576" marB="36576">
                    <a:solidFill>
                      <a:srgbClr val="262640"/>
                    </a:solidFill>
                  </a:tcPr>
                </a:tc>
              </a:tr>
              <a:tr h="418011">
                <a:tc>
                  <a:txBody>
                    <a:bodyPr/>
                    <a:lstStyle/>
                    <a:p>
                      <a:pPr>
                        <a:defRPr sz="1000" b="1">
                          <a:solidFill>
                            <a:srgbClr val="4EC9F0"/>
                          </a:solidFill>
                          <a:latin typeface="Calibri"/>
                        </a:defRPr>
                      </a:pPr>
                      <a:r>
                        <a:t>Diff. Diagnosis</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r>
              <a:tr h="418011">
                <a:tc>
                  <a:txBody>
                    <a:bodyPr/>
                    <a:lstStyle/>
                    <a:p>
                      <a:pPr>
                        <a:defRPr sz="1000" b="1">
                          <a:solidFill>
                            <a:srgbClr val="4EC9F0"/>
                          </a:solidFill>
                          <a:latin typeface="Calibri"/>
                        </a:defRPr>
                      </a:pPr>
                      <a:r>
                        <a:t>Prescribed Meds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Treatment Plan</a:t>
                      </a:r>
                    </a:p>
                  </a:txBody>
                  <a:tcPr anchor="t" marL="73152" marR="73152" marT="36576" marB="36576">
                    <a:solidFill>
                      <a:srgbClr val="1E1E36"/>
                    </a:solidFill>
                  </a:tcPr>
                </a:tc>
                <a:tc>
                  <a:txBody>
                    <a:bodyPr/>
                    <a:lstStyle/>
                    <a:p>
                      <a:pPr>
                        <a:defRPr sz="900">
                          <a:solidFill>
                            <a:srgbClr val="F0F0F5"/>
                          </a:solidFill>
                          <a:latin typeface="Calibri"/>
                        </a:defRPr>
                      </a:pPr>
                      <a:r>
                        <a:t>Consideration for diuretic therapy (Lasix) pending investigation results</a:t>
                      </a:r>
                    </a:p>
                  </a:txBody>
                  <a:tcPr anchor="t" marL="73152" marR="73152" marT="36576" marB="36576">
                    <a:solidFill>
                      <a:srgbClr val="1E1E36"/>
                    </a:solidFill>
                  </a:tcPr>
                </a:tc>
                <a:tc>
                  <a:txBody>
                    <a:bodyPr/>
                    <a:lstStyle/>
                    <a:p>
                      <a:pPr>
                        <a:defRPr sz="900">
                          <a:solidFill>
                            <a:srgbClr val="F0F0F5"/>
                          </a:solidFill>
                          <a:latin typeface="Calibri"/>
                        </a:defRPr>
                      </a:pPr>
                      <a:r>
                        <a:t>further investigations to confirm congestive heart failure | potential initiation of diuretic therapy (e.g., Lasix)</a:t>
                      </a:r>
                    </a:p>
                  </a:txBody>
                  <a:tcPr anchor="t" marL="73152" marR="73152" marT="36576" marB="36576">
                    <a:solidFill>
                      <a:srgbClr val="1E1E36"/>
                    </a:solidFill>
                  </a:tcPr>
                </a:tc>
              </a:tr>
              <a:tr h="418011">
                <a:tc>
                  <a:txBody>
                    <a:bodyPr/>
                    <a:lstStyle/>
                    <a:p>
                      <a:pPr>
                        <a:defRPr sz="1000" b="1">
                          <a:solidFill>
                            <a:srgbClr val="4EC9F0"/>
                          </a:solidFill>
                          <a:latin typeface="Calibri"/>
                        </a:defRPr>
                      </a:pPr>
                      <a:r>
                        <a:t>Investigations</a:t>
                      </a:r>
                    </a:p>
                  </a:txBody>
                  <a:tcPr anchor="t" marL="73152" marR="73152" marT="36576" marB="36576">
                    <a:solidFill>
                      <a:srgbClr val="262640"/>
                    </a:solidFill>
                  </a:tcPr>
                </a:tc>
                <a:tc>
                  <a:txBody>
                    <a:bodyPr/>
                    <a:lstStyle/>
                    <a:p>
                      <a:pPr>
                        <a:defRPr sz="900">
                          <a:solidFill>
                            <a:srgbClr val="F0F0F5"/>
                          </a:solidFill>
                          <a:latin typeface="Calibri"/>
                        </a:defRPr>
                      </a:pPr>
                      <a:r>
                        <a:t>diagnostic investigations to determine heart function and fluid status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7">
                <a:tc>
                  <a:txBody>
                    <a:bodyPr/>
                    <a:lstStyle/>
                    <a:p>
                      <a:pPr>
                        <a:defRPr sz="1000" b="1">
                          <a:solidFill>
                            <a:srgbClr val="4EC9F0"/>
                          </a:solidFill>
                          <a:latin typeface="Calibri"/>
                        </a:defRPr>
                      </a:pPr>
                      <a:r>
                        <a:t>Follow Up</a:t>
                      </a:r>
                    </a:p>
                  </a:txBody>
                  <a:tcPr anchor="t" marL="73152" marR="73152" marT="36576" marB="36576">
                    <a:solidFill>
                      <a:srgbClr val="1E1E36"/>
                    </a:solidFill>
                  </a:tcPr>
                </a:tc>
                <a:tc>
                  <a:txBody>
                    <a:bodyPr/>
                    <a:lstStyle/>
                    <a:p>
                      <a:pPr>
                        <a:defRPr sz="900">
                          <a:solidFill>
                            <a:srgbClr val="F0F0F5"/>
                          </a:solidFill>
                          <a:latin typeface="Calibri"/>
                        </a:defRPr>
                      </a:pPr>
                      <a:r>
                        <a:t>Patient to undergo investigations; plan to be determined based on results.</a:t>
                      </a:r>
                    </a:p>
                  </a:txBody>
                  <a:tcPr anchor="t" marL="73152" marR="73152" marT="36576" marB="36576">
                    <a:solidFill>
                      <a:srgbClr val="1E1E36"/>
                    </a:solidFill>
                  </a:tcPr>
                </a:tc>
                <a:tc>
                  <a:txBody>
                    <a:bodyPr/>
                    <a:lstStyle/>
                    <a:p>
                      <a:pPr>
                        <a:defRPr sz="900">
                          <a:solidFill>
                            <a:srgbClr val="F0F0F5"/>
                          </a:solidFill>
                          <a:latin typeface="Calibri"/>
                        </a:defRPr>
                      </a:pPr>
                      <a:r>
                        <a:t>will do some investigations and then go from there</a:t>
                      </a:r>
                    </a:p>
                  </a:txBody>
                  <a:tcPr anchor="t" marL="73152" marR="73152" marT="36576" marB="36576">
                    <a:solidFill>
                      <a:srgbClr val="1E1E36"/>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CAR0004: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here today?</a:t>
            </a:r>
            <a:br/>
            <a:r>
              <a:t>P: I'm just having this really sharp pain in my chest and I'm scared. I think I'm having a heart attack.</a:t>
            </a:r>
            <a:br/>
            <a:r>
              <a:t>D: Oh wow, yeah um that must be really scary. When did this, when did this pain start?</a:t>
            </a:r>
            <a:br/>
            <a:r>
              <a:t>P: So about 3 days ago.</a:t>
            </a:r>
            <a:br/>
            <a:r>
              <a:t>D: Three days ago, OK, and where exactly in your chest do you feel it?</a:t>
            </a:r>
            <a:br/>
            <a:r>
              <a:t>P: It's kind of right here, right over my heart I think, that's where it's the worst.</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47472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474720" cy="365760"/>
          </a:xfrm>
          <a:prstGeom prst="rect">
            <a:avLst/>
          </a:prstGeom>
          <a:noFill/>
        </p:spPr>
        <p:txBody>
          <a:bodyPr wrap="square">
            <a:spAutoFit/>
          </a:bodyPr>
          <a:lstStyle/>
          <a:p>
            <a:pPr algn="ctr">
              <a:defRPr sz="1400" b="1">
                <a:solidFill>
                  <a:srgbClr val="1A1A2E"/>
                </a:solidFill>
                <a:latin typeface="Calibri"/>
              </a:defRPr>
            </a:pPr>
            <a:r>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I'm just having this really sharp pain in my chest and I'm scared.</a:t>
            </a:r>
            <a:br/>
            <a:r>
              <a:t>P: I think I'm having a heart attack.</a:t>
            </a:r>
            <a:br/>
            <a:r>
              <a:t>D: Oh wow, that must be really scary.</a:t>
            </a:r>
            <a:br/>
            <a:r>
              <a:t>P: Yeah.</a:t>
            </a:r>
            <a:br/>
            <a:r>
              <a:t>D: When did this pain start?</a:t>
            </a:r>
            <a:br/>
            <a:r>
              <a:t>P: About three days ago.</a:t>
            </a:r>
            <a:br/>
            <a:r>
              <a:t>D: Three days ago, okay.</a:t>
            </a:r>
            <a:br/>
            <a:r>
              <a:t>D: And where exactly in your chest do you feel it?</a:t>
            </a:r>
            <a:br/>
            <a:r>
              <a:t>P: Kind of right here, right over my heart, I think.</a:t>
            </a:r>
            <a:br/>
            <a:r>
              <a:t>P: That's where it's the worst.</a:t>
            </a:r>
            <a:br/>
            <a:r>
              <a:t>D: Okay, and what kind of pain is it?</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CAR0004: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A 25-year-old student presents with a 3-day history of sharp chest pain that is positional and relieved by leaning forward. The patient is anxious due to the recent sudden death of their father from a heart attack, but physical examination and diagnostic testing are planned to rule out cardiac pathology.</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A 25-year-old male presents with intermittent, sharp chest pain starting three days ago, worsening with coughing and lying down, and improving when leaning forward. The patient is anxious due to a recent family history of his father passing away from a heart attack, though he denies systemic symptoms like shortness of breath or palpitations.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CAR0004: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gridCol w="4983480"/>
                <a:gridCol w="4983480"/>
              </a:tblGrid>
              <a:tr h="418011">
                <a:tc>
                  <a:txBody>
                    <a:bodyPr/>
                    <a:lstStyle/>
                    <a:p>
                      <a:pPr algn="ctr">
                        <a:defRPr sz="1200" b="1">
                          <a:solidFill>
                            <a:srgbClr val="4EC9F0"/>
                          </a:solidFill>
                          <a:latin typeface="Calibri"/>
                        </a:defRPr>
                      </a:pPr>
                      <a:r>
                        <a:t>SOAP Field</a:t>
                      </a:r>
                    </a:p>
                  </a:txBody>
                  <a:tcPr anchor="ctr" marL="73152" marR="73152" marT="36576" marB="36576">
                    <a:solidFill>
                      <a:srgbClr val="2A2A4A"/>
                    </a:solidFill>
                  </a:tcPr>
                </a:tc>
                <a:tc>
                  <a:txBody>
                    <a:bodyPr/>
                    <a:lstStyle/>
                    <a:p>
                      <a:pPr algn="ctr">
                        <a:defRPr sz="1200" b="1">
                          <a:solidFill>
                            <a:srgbClr val="50E3A0"/>
                          </a:solidFill>
                          <a:latin typeface="Calibri"/>
                        </a:defRPr>
                      </a:pPr>
                      <a:r>
                        <a:t>Ground Truth</a:t>
                      </a:r>
                    </a:p>
                  </a:txBody>
                  <a:tcPr anchor="ctr" marL="73152" marR="73152" marT="36576" marB="36576">
                    <a:solidFill>
                      <a:srgbClr val="2A2A4A"/>
                    </a:solidFill>
                  </a:tcPr>
                </a:tc>
                <a:tc>
                  <a:txBody>
                    <a:bodyPr/>
                    <a:lstStyle/>
                    <a:p>
                      <a:pPr algn="ctr">
                        <a:defRPr sz="1200" b="1">
                          <a:solidFill>
                            <a:srgbClr val="F09E4E"/>
                          </a:solidFill>
                          <a:latin typeface="Calibri"/>
                        </a:defRPr>
                      </a:pPr>
                      <a:r>
                        <a:t>Predicted (Gemini 3.6 Flash)</a:t>
                      </a:r>
                    </a:p>
                  </a:txBody>
                  <a:tcPr anchor="ctr" marL="73152" marR="73152" marT="36576" marB="36576">
                    <a:solidFill>
                      <a:srgbClr val="2A2A4A"/>
                    </a:solidFill>
                  </a:tcPr>
                </a:tc>
              </a:tr>
              <a:tr h="418011">
                <a:tc>
                  <a:txBody>
                    <a:bodyPr/>
                    <a:lstStyle/>
                    <a:p>
                      <a:pPr>
                        <a:defRPr sz="1000" b="1">
                          <a:solidFill>
                            <a:srgbClr val="4EC9F0"/>
                          </a:solidFill>
                          <a:latin typeface="Calibri"/>
                        </a:defRPr>
                      </a:pPr>
                      <a:r>
                        <a:t>Chief Complaint</a:t>
                      </a:r>
                    </a:p>
                  </a:txBody>
                  <a:tcPr anchor="t" marL="73152" marR="73152" marT="36576" marB="36576">
                    <a:solidFill>
                      <a:srgbClr val="1E1E36"/>
                    </a:solidFill>
                  </a:tcPr>
                </a:tc>
                <a:tc>
                  <a:txBody>
                    <a:bodyPr/>
                    <a:lstStyle/>
                    <a:p>
                      <a:pPr>
                        <a:defRPr sz="900">
                          <a:solidFill>
                            <a:srgbClr val="F0F0F5"/>
                          </a:solidFill>
                          <a:latin typeface="Calibri"/>
                        </a:defRPr>
                      </a:pPr>
                      <a:r>
                        <a:t>Sharp chest pain</a:t>
                      </a:r>
                    </a:p>
                  </a:txBody>
                  <a:tcPr anchor="t" marL="73152" marR="73152" marT="36576" marB="36576">
                    <a:solidFill>
                      <a:srgbClr val="1E1E36"/>
                    </a:solidFill>
                  </a:tcPr>
                </a:tc>
                <a:tc>
                  <a:txBody>
                    <a:bodyPr/>
                    <a:lstStyle/>
                    <a:p>
                      <a:pPr>
                        <a:defRPr sz="900">
                          <a:solidFill>
                            <a:srgbClr val="F0F0F5"/>
                          </a:solidFill>
                          <a:latin typeface="Calibri"/>
                        </a:defRPr>
                      </a:pPr>
                      <a:r>
                        <a:t>Sharp chest pain</a:t>
                      </a:r>
                    </a:p>
                  </a:txBody>
                  <a:tcPr anchor="t" marL="73152" marR="73152" marT="36576" marB="36576">
                    <a:solidFill>
                      <a:srgbClr val="1E1E36"/>
                    </a:solidFill>
                  </a:tcPr>
                </a:tc>
              </a:tr>
              <a:tr h="418011">
                <a:tc>
                  <a:txBody>
                    <a:bodyPr/>
                    <a:lstStyle/>
                    <a:p>
                      <a:pPr>
                        <a:defRPr sz="1000" b="1">
                          <a:solidFill>
                            <a:srgbClr val="4EC9F0"/>
                          </a:solidFill>
                          <a:latin typeface="Calibri"/>
                        </a:defRPr>
                      </a:pPr>
                      <a:r>
                        <a:t>Symptoms</a:t>
                      </a:r>
                    </a:p>
                  </a:txBody>
                  <a:tcPr anchor="t" marL="73152" marR="73152" marT="36576" marB="36576">
                    <a:solidFill>
                      <a:srgbClr val="262640"/>
                    </a:solidFill>
                  </a:tcPr>
                </a:tc>
                <a:tc>
                  <a:txBody>
                    <a:bodyPr/>
                    <a:lstStyle/>
                    <a:p>
                      <a:pPr>
                        <a:defRPr sz="900">
                          <a:solidFill>
                            <a:srgbClr val="F0F0F5"/>
                          </a:solidFill>
                          <a:latin typeface="Calibri"/>
                        </a:defRPr>
                      </a:pPr>
                      <a:r>
                        <a:t>sharp chest pain | pain radiating to neck | worse with coughing | worse when laying down | pain relieved by leaning forward | recent flu sym...</a:t>
                      </a:r>
                    </a:p>
                  </a:txBody>
                  <a:tcPr anchor="t" marL="73152" marR="73152" marT="36576" marB="36576">
                    <a:solidFill>
                      <a:srgbClr val="262640"/>
                    </a:solidFill>
                  </a:tcPr>
                </a:tc>
                <a:tc>
                  <a:txBody>
                    <a:bodyPr/>
                    <a:lstStyle/>
                    <a:p>
                      <a:pPr>
                        <a:defRPr sz="900">
                          <a:solidFill>
                            <a:srgbClr val="F0F0F5"/>
                          </a:solidFill>
                          <a:latin typeface="Calibri"/>
                        </a:defRPr>
                      </a:pPr>
                      <a:r>
                        <a:t>sharp chest pain | pain radiating to neck | worsened by coughing | worsened by lying down | improved by leaning forward</a:t>
                      </a:r>
                    </a:p>
                  </a:txBody>
                  <a:tcPr anchor="t" marL="73152" marR="73152" marT="36576" marB="36576">
                    <a:solidFill>
                      <a:srgbClr val="262640"/>
                    </a:solidFill>
                  </a:tcPr>
                </a:tc>
              </a:tr>
              <a:tr h="418011">
                <a:tc>
                  <a:txBody>
                    <a:bodyPr/>
                    <a:lstStyle/>
                    <a:p>
                      <a:pPr>
                        <a:defRPr sz="1000" b="1">
                          <a:solidFill>
                            <a:srgbClr val="4EC9F0"/>
                          </a:solidFill>
                          <a:latin typeface="Calibri"/>
                        </a:defRPr>
                      </a:pPr>
                      <a:r>
                        <a:t>Symptom Onset</a:t>
                      </a:r>
                    </a:p>
                  </a:txBody>
                  <a:tcPr anchor="t" marL="73152" marR="73152" marT="36576" marB="36576">
                    <a:solidFill>
                      <a:srgbClr val="1E1E36"/>
                    </a:solidFill>
                  </a:tcPr>
                </a:tc>
                <a:tc>
                  <a:txBody>
                    <a:bodyPr/>
                    <a:lstStyle/>
                    <a:p>
                      <a:pPr>
                        <a:defRPr sz="900">
                          <a:solidFill>
                            <a:srgbClr val="F0F0F5"/>
                          </a:solidFill>
                          <a:latin typeface="Calibri"/>
                        </a:defRPr>
                      </a:pPr>
                      <a:r>
                        <a:t>3 days ago</a:t>
                      </a:r>
                    </a:p>
                  </a:txBody>
                  <a:tcPr anchor="t" marL="73152" marR="73152" marT="36576" marB="36576">
                    <a:solidFill>
                      <a:srgbClr val="1E1E36"/>
                    </a:solidFill>
                  </a:tcPr>
                </a:tc>
                <a:tc>
                  <a:txBody>
                    <a:bodyPr/>
                    <a:lstStyle/>
                    <a:p>
                      <a:pPr>
                        <a:defRPr sz="900">
                          <a:solidFill>
                            <a:srgbClr val="F0F0F5"/>
                          </a:solidFill>
                          <a:latin typeface="Calibri"/>
                        </a:defRPr>
                      </a:pPr>
                      <a:r>
                        <a:t>Three days ago</a:t>
                      </a:r>
                    </a:p>
                  </a:txBody>
                  <a:tcPr anchor="t" marL="73152" marR="73152" marT="36576" marB="36576">
                    <a:solidFill>
                      <a:srgbClr val="1E1E36"/>
                    </a:solidFill>
                  </a:tcPr>
                </a:tc>
              </a:tr>
              <a:tr h="418011">
                <a:tc>
                  <a:txBody>
                    <a:bodyPr/>
                    <a:lstStyle/>
                    <a:p>
                      <a:pPr>
                        <a:defRPr sz="1000" b="1">
                          <a:solidFill>
                            <a:srgbClr val="4EC9F0"/>
                          </a:solidFill>
                          <a:latin typeface="Calibri"/>
                        </a:defRPr>
                      </a:pPr>
                      <a:r>
                        <a:t>Medical History</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no chronic medical conditions</a:t>
                      </a:r>
                    </a:p>
                  </a:txBody>
                  <a:tcPr anchor="t" marL="73152" marR="73152" marT="36576" marB="36576">
                    <a:solidFill>
                      <a:srgbClr val="262640"/>
                    </a:solidFill>
                  </a:tcPr>
                </a:tc>
              </a:tr>
              <a:tr h="418011">
                <a:tc>
                  <a:txBody>
                    <a:bodyPr/>
                    <a:lstStyle/>
                    <a:p>
                      <a:pPr>
                        <a:defRPr sz="1000" b="1">
                          <a:solidFill>
                            <a:srgbClr val="4EC9F0"/>
                          </a:solidFill>
                          <a:latin typeface="Calibri"/>
                        </a:defRPr>
                      </a:pPr>
                      <a:r>
                        <a:t>Medications</a:t>
                      </a:r>
                    </a:p>
                  </a:txBody>
                  <a:tcPr anchor="t" marL="73152" marR="73152" marT="36576" marB="36576">
                    <a:solidFill>
                      <a:srgbClr val="1E1E36"/>
                    </a:solidFill>
                  </a:tcPr>
                </a:tc>
                <a:tc>
                  <a:txBody>
                    <a:bodyPr/>
                    <a:lstStyle/>
                    <a:p>
                      <a:pPr>
                        <a:defRPr sz="900">
                          <a:solidFill>
                            <a:srgbClr val="F0F0F5"/>
                          </a:solidFill>
                          <a:latin typeface="Calibri"/>
                        </a:defRPr>
                      </a:pPr>
                      <a:r>
                        <a:t>Tylenol</a:t>
                      </a:r>
                    </a:p>
                  </a:txBody>
                  <a:tcPr anchor="t" marL="73152" marR="73152" marT="36576" marB="36576">
                    <a:solidFill>
                      <a:srgbClr val="1E1E36"/>
                    </a:solidFill>
                  </a:tcPr>
                </a:tc>
                <a:tc>
                  <a:txBody>
                    <a:bodyPr/>
                    <a:lstStyle/>
                    <a:p>
                      <a:pPr>
                        <a:defRPr sz="900">
                          <a:solidFill>
                            <a:srgbClr val="F0F0F5"/>
                          </a:solidFill>
                          <a:latin typeface="Calibri"/>
                        </a:defRPr>
                      </a:pPr>
                      <a:r>
                        <a:t>Tylenol</a:t>
                      </a:r>
                    </a:p>
                  </a:txBody>
                  <a:tcPr anchor="t" marL="73152" marR="73152" marT="36576" marB="36576">
                    <a:solidFill>
                      <a:srgbClr val="1E1E36"/>
                    </a:solidFill>
                  </a:tcPr>
                </a:tc>
              </a:tr>
              <a:tr h="418011">
                <a:tc>
                  <a:txBody>
                    <a:bodyPr/>
                    <a:lstStyle/>
                    <a:p>
                      <a:pPr>
                        <a:defRPr sz="1000" b="1">
                          <a:solidFill>
                            <a:srgbClr val="4EC9F0"/>
                          </a:solidFill>
                          <a:latin typeface="Calibri"/>
                        </a:defRPr>
                      </a:pPr>
                      <a:r>
                        <a:t>Allergies</a:t>
                      </a:r>
                    </a:p>
                  </a:txBody>
                  <a:tcPr anchor="t" marL="73152" marR="73152" marT="36576" marB="36576">
                    <a:solidFill>
                      <a:srgbClr val="262640"/>
                    </a:solidFill>
                  </a:tcPr>
                </a:tc>
                <a:tc>
                  <a:txBody>
                    <a:bodyPr/>
                    <a:lstStyle/>
                    <a:p>
                      <a:pPr>
                        <a:defRPr sz="900">
                          <a:solidFill>
                            <a:srgbClr val="F0F0F5"/>
                          </a:solidFill>
                          <a:latin typeface="Calibri"/>
                        </a:defRPr>
                      </a:pPr>
                      <a:r>
                        <a:t>None</a:t>
                      </a:r>
                    </a:p>
                  </a:txBody>
                  <a:tcPr anchor="t" marL="73152" marR="73152" marT="36576" marB="36576">
                    <a:solidFill>
                      <a:srgbClr val="262640"/>
                    </a:solidFill>
                  </a:tcPr>
                </a:tc>
                <a:tc>
                  <a:txBody>
                    <a:bodyPr/>
                    <a:lstStyle/>
                    <a:p>
                      <a:pPr>
                        <a:defRPr sz="900">
                          <a:solidFill>
                            <a:srgbClr val="F0F0F5"/>
                          </a:solidFill>
                          <a:latin typeface="Calibri"/>
                        </a:defRPr>
                      </a:pPr>
                      <a:r>
                        <a:t>none</a:t>
                      </a:r>
                    </a:p>
                  </a:txBody>
                  <a:tcPr anchor="t" marL="73152" marR="73152" marT="36576" marB="36576">
                    <a:solidFill>
                      <a:srgbClr val="262640"/>
                    </a:solidFill>
                  </a:tcPr>
                </a:tc>
              </a:tr>
              <a:tr h="418011">
                <a:tc>
                  <a:txBody>
                    <a:bodyPr/>
                    <a:lstStyle/>
                    <a:p>
                      <a:pPr>
                        <a:defRPr sz="1000" b="1">
                          <a:solidFill>
                            <a:srgbClr val="4EC9F0"/>
                          </a:solidFill>
                          <a:latin typeface="Calibri"/>
                        </a:defRPr>
                      </a:pPr>
                      <a:r>
                        <a:t>Exam Findings</a:t>
                      </a:r>
                    </a:p>
                  </a:txBody>
                  <a:tcPr anchor="t" marL="73152" marR="73152" marT="36576" marB="36576">
                    <a:solidFill>
                      <a:srgbClr val="1E1E36"/>
                    </a:solidFill>
                  </a:tcPr>
                </a:tc>
                <a:tc>
                  <a:txBody>
                    <a:bodyPr/>
                    <a:lstStyle/>
                    <a:p>
                      <a:pPr>
                        <a:defRPr sz="900">
                          <a:solidFill>
                            <a:srgbClr val="F0F0F5"/>
                          </a:solidFill>
                          <a:latin typeface="Calibri"/>
                        </a:defRPr>
                      </a:pPr>
                      <a:r>
                        <a:t>ECG ordered | Potential blood work</a:t>
                      </a:r>
                    </a:p>
                  </a:txBody>
                  <a:tcPr anchor="t" marL="73152" marR="73152" marT="36576" marB="36576">
                    <a:solidFill>
                      <a:srgbClr val="1E1E36"/>
                    </a:solidFill>
                  </a:tcPr>
                </a:tc>
                <a:tc>
                  <a:txBody>
                    <a:bodyPr/>
                    <a:lstStyle/>
                    <a:p>
                      <a:pPr>
                        <a:defRPr sz="900">
                          <a:solidFill>
                            <a:srgbClr val="F0F0F5"/>
                          </a:solidFill>
                          <a:latin typeface="Calibri"/>
                        </a:defRPr>
                      </a:pPr>
                      <a:r>
                        <a:t>ECG requested to evaluate heart function</a:t>
                      </a:r>
                    </a:p>
                  </a:txBody>
                  <a:tcPr anchor="t" marL="73152" marR="73152" marT="36576" marB="36576">
                    <a:solidFill>
                      <a:srgbClr val="1E1E36"/>
                    </a:solidFill>
                  </a:tcPr>
                </a:tc>
              </a:tr>
              <a:tr h="418011">
                <a:tc>
                  <a:txBody>
                    <a:bodyPr/>
                    <a:lstStyle/>
                    <a:p>
                      <a:pPr>
                        <a:defRPr sz="1000" b="1">
                          <a:solidFill>
                            <a:srgbClr val="4EC9F0"/>
                          </a:solidFill>
                          <a:latin typeface="Calibri"/>
                        </a:defRPr>
                      </a:pPr>
                      <a:r>
                        <a:t>Diagnosis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Diff. Diagnosis</a:t>
                      </a:r>
                    </a:p>
                  </a:txBody>
                  <a:tcPr anchor="t" marL="73152" marR="73152" marT="36576" marB="36576">
                    <a:solidFill>
                      <a:srgbClr val="1E1E36"/>
                    </a:solidFill>
                  </a:tcPr>
                </a:tc>
                <a:tc>
                  <a:txBody>
                    <a:bodyPr/>
                    <a:lstStyle/>
                    <a:p>
                      <a:pPr>
                        <a:defRPr sz="900">
                          <a:solidFill>
                            <a:srgbClr val="F0F0F5"/>
                          </a:solidFill>
                          <a:latin typeface="Calibri"/>
                        </a:defRPr>
                      </a:pPr>
                      <a:r>
                        <a:t>Myocardial infarction (patient concern) | Pericarditis (suggested by positional pain/recent viral illness)</a:t>
                      </a:r>
                    </a:p>
                  </a:txBody>
                  <a:tcPr anchor="t" marL="73152" marR="73152" marT="36576" marB="36576">
                    <a:solidFill>
                      <a:srgbClr val="1E1E36"/>
                    </a:solidFill>
                  </a:tcPr>
                </a:tc>
                <a:tc>
                  <a:txBody>
                    <a:bodyPr/>
                    <a:lstStyle/>
                    <a:p>
                      <a:pPr>
                        <a:defRPr sz="900">
                          <a:solidFill>
                            <a:srgbClr val="F0F0F5"/>
                          </a:solidFill>
                          <a:latin typeface="Calibri"/>
                        </a:defRPr>
                      </a:pPr>
                      <a:r>
                        <a:t>heart attack (myocardial infarction)</a:t>
                      </a:r>
                    </a:p>
                  </a:txBody>
                  <a:tcPr anchor="t" marL="73152" marR="73152" marT="36576" marB="36576">
                    <a:solidFill>
                      <a:srgbClr val="1E1E36"/>
                    </a:solidFill>
                  </a:tcPr>
                </a:tc>
              </a:tr>
              <a:tr h="418011">
                <a:tc>
                  <a:txBody>
                    <a:bodyPr/>
                    <a:lstStyle/>
                    <a:p>
                      <a:pPr>
                        <a:defRPr sz="1000" b="1">
                          <a:solidFill>
                            <a:srgbClr val="4EC9F0"/>
                          </a:solidFill>
                          <a:latin typeface="Calibri"/>
                        </a:defRPr>
                      </a:pPr>
                      <a:r>
                        <a:t>Prescribed Meds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Treatment Plan</a:t>
                      </a:r>
                    </a:p>
                  </a:txBody>
                  <a:tcPr anchor="t" marL="73152" marR="73152" marT="36576" marB="36576">
                    <a:solidFill>
                      <a:srgbClr val="1E1E36"/>
                    </a:solidFill>
                  </a:tcPr>
                </a:tc>
                <a:tc>
                  <a:txBody>
                    <a:bodyPr/>
                    <a:lstStyle/>
                    <a:p>
                      <a:pPr>
                        <a:defRPr sz="900">
                          <a:solidFill>
                            <a:srgbClr val="F0F0F5"/>
                          </a:solidFill>
                          <a:latin typeface="Calibri"/>
                        </a:defRPr>
                      </a:pPr>
                      <a:r>
                        <a:t>ECG | Possible blood work</a:t>
                      </a:r>
                    </a:p>
                  </a:txBody>
                  <a:tcPr anchor="t" marL="73152" marR="73152" marT="36576" marB="36576">
                    <a:solidFill>
                      <a:srgbClr val="1E1E36"/>
                    </a:solidFill>
                  </a:tcPr>
                </a:tc>
                <a:tc>
                  <a:txBody>
                    <a:bodyPr/>
                    <a:lstStyle/>
                    <a:p>
                      <a:pPr>
                        <a:defRPr sz="900">
                          <a:solidFill>
                            <a:srgbClr val="F0F0F5"/>
                          </a:solidFill>
                          <a:latin typeface="Calibri"/>
                        </a:defRPr>
                      </a:pPr>
                      <a:r>
                        <a:t>ECG to assess cardiac function | blood work as needed</a:t>
                      </a:r>
                    </a:p>
                  </a:txBody>
                  <a:tcPr anchor="t" marL="73152" marR="73152" marT="36576" marB="36576">
                    <a:solidFill>
                      <a:srgbClr val="1E1E36"/>
                    </a:solidFill>
                  </a:tcPr>
                </a:tc>
              </a:tr>
              <a:tr h="418011">
                <a:tc>
                  <a:txBody>
                    <a:bodyPr/>
                    <a:lstStyle/>
                    <a:p>
                      <a:pPr>
                        <a:defRPr sz="1000" b="1">
                          <a:solidFill>
                            <a:srgbClr val="4EC9F0"/>
                          </a:solidFill>
                          <a:latin typeface="Calibri"/>
                        </a:defRPr>
                      </a:pPr>
                      <a:r>
                        <a:t>Investigations</a:t>
                      </a:r>
                    </a:p>
                  </a:txBody>
                  <a:tcPr anchor="t" marL="73152" marR="73152" marT="36576" marB="36576">
                    <a:solidFill>
                      <a:srgbClr val="262640"/>
                    </a:solidFill>
                  </a:tcPr>
                </a:tc>
                <a:tc>
                  <a:txBody>
                    <a:bodyPr/>
                    <a:lstStyle/>
                    <a:p>
                      <a:pPr>
                        <a:defRPr sz="900">
                          <a:solidFill>
                            <a:srgbClr val="F0F0F5"/>
                          </a:solidFill>
                          <a:latin typeface="Calibri"/>
                        </a:defRPr>
                      </a:pPr>
                      <a:r>
                        <a:t>ECG | Blood work (pending)</a:t>
                      </a:r>
                    </a:p>
                  </a:txBody>
                  <a:tcPr anchor="t" marL="73152" marR="73152" marT="36576" marB="36576">
                    <a:solidFill>
                      <a:srgbClr val="262640"/>
                    </a:solidFill>
                  </a:tcPr>
                </a:tc>
                <a:tc>
                  <a:txBody>
                    <a:bodyPr/>
                    <a:lstStyle/>
                    <a:p>
                      <a:pPr>
                        <a:defRPr sz="900">
                          <a:solidFill>
                            <a:srgbClr val="F0F0F5"/>
                          </a:solidFill>
                          <a:latin typeface="Calibri"/>
                        </a:defRPr>
                      </a:pPr>
                      <a:r>
                        <a:t>ECG | blood work</a:t>
                      </a:r>
                    </a:p>
                  </a:txBody>
                  <a:tcPr anchor="t" marL="73152" marR="73152" marT="36576" marB="36576">
                    <a:solidFill>
                      <a:srgbClr val="262640"/>
                    </a:solidFill>
                  </a:tcPr>
                </a:tc>
              </a:tr>
              <a:tr h="418017">
                <a:tc>
                  <a:txBody>
                    <a:bodyPr/>
                    <a:lstStyle/>
                    <a:p>
                      <a:pPr>
                        <a:defRPr sz="1000" b="1">
                          <a:solidFill>
                            <a:srgbClr val="4EC9F0"/>
                          </a:solidFill>
                          <a:latin typeface="Calibri"/>
                        </a:defRPr>
                      </a:pPr>
                      <a:r>
                        <a:t>Follow Up</a:t>
                      </a:r>
                    </a:p>
                  </a:txBody>
                  <a:tcPr anchor="t" marL="73152" marR="73152" marT="36576" marB="36576">
                    <a:solidFill>
                      <a:srgbClr val="1E1E36"/>
                    </a:solidFill>
                  </a:tcPr>
                </a:tc>
                <a:tc>
                  <a:txBody>
                    <a:bodyPr/>
                    <a:lstStyle/>
                    <a:p>
                      <a:pPr>
                        <a:defRPr sz="900">
                          <a:solidFill>
                            <a:srgbClr val="F0F0F5"/>
                          </a:solidFill>
                          <a:latin typeface="Calibri"/>
                        </a:defRPr>
                      </a:pPr>
                      <a:r>
                        <a:t>Patient instructed not to worry too much; await test results from ECG and blood work.</a:t>
                      </a:r>
                    </a:p>
                  </a:txBody>
                  <a:tcPr anchor="t" marL="73152" marR="73152" marT="36576" marB="36576">
                    <a:solidFill>
                      <a:srgbClr val="1E1E36"/>
                    </a:solidFill>
                  </a:tcPr>
                </a:tc>
                <a:tc>
                  <a:txBody>
                    <a:bodyPr/>
                    <a:lstStyle/>
                    <a:p>
                      <a:pPr>
                        <a:defRPr sz="900">
                          <a:solidFill>
                            <a:srgbClr val="F0F0F5"/>
                          </a:solidFill>
                          <a:latin typeface="Calibri"/>
                        </a:defRPr>
                      </a:pPr>
                      <a:r>
                        <a:t>Patient instructed not to worry and wait for the results of the diagnostic tests.</a:t>
                      </a:r>
                    </a:p>
                  </a:txBody>
                  <a:tcPr anchor="t" marL="73152" marR="73152" marT="36576" marB="36576">
                    <a:solidFill>
                      <a:srgbClr val="1E1E36"/>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CAR0005: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It sounds like that you're experiencing some chest pain.</a:t>
            </a:r>
            <a:br/>
            <a:r>
              <a:t>P: Yeah, so this chest pain has just been coming on for the last couple of weeks now.</a:t>
            </a:r>
            <a:br/>
            <a:r>
              <a:t>D: OK, uhm. So 2 weeks, and can you tell me kind of where you're feeling that pain?</a:t>
            </a:r>
            <a:br/>
            <a:r>
              <a:t>P: Um yeah, I'm I'm just feeling this chest discomfort, sort of over on the left side.</a:t>
            </a:r>
            <a:br/>
            <a:r>
              <a:t>D: The left side, OK. Does does it stay just in one spot or does it kind of spread anywhere else?</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47472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474720" cy="365760"/>
          </a:xfrm>
          <a:prstGeom prst="rect">
            <a:avLst/>
          </a:prstGeom>
          <a:noFill/>
        </p:spPr>
        <p:txBody>
          <a:bodyPr wrap="square">
            <a:spAutoFit/>
          </a:bodyPr>
          <a:lstStyle/>
          <a:p>
            <a:pPr algn="ctr">
              <a:defRPr sz="1400" b="1">
                <a:solidFill>
                  <a:srgbClr val="1A1A2E"/>
                </a:solidFill>
                <a:latin typeface="Calibri"/>
              </a:defRPr>
            </a:pPr>
            <a:r>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D: And it sounds like you're experiencing some chest pain.</a:t>
            </a:r>
            <a:br/>
            <a:r>
              <a:t>P: Yeah, so this chest pain has just been coming on for the last couple of weeks now.</a:t>
            </a:r>
            <a:br/>
            <a:r>
              <a:t>D: Okay. So two weeks. And can you tell me kind of where you're feeling that pain?</a:t>
            </a:r>
            <a:br/>
            <a:r>
              <a:t>P: Yeah, I'm just feeling this chest discomfort sort of over on the left side.</a:t>
            </a:r>
            <a:br/>
            <a:r>
              <a:t>D: On the left side, okay. Does it stay just in one spot or does it kind of spread anywhere else?</a:t>
            </a:r>
            <a:b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CAR0005: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The patient presents with a two-week history of sharp, intermittent left-sided chest pain lasting 20-30 minutes, rated 4/10. The episodes are not related to exercise and have been unresponsive to OTC analgesics or antacids, occurring amidst significant personal stress.</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The patient is a previously healthy individual presenting with intermittent, sharp left-sided chest pain of 4/10 intensity, occurring 2-3 times over the last two weeks. The episodes last 20-30 minutes and are not triggered by exercise, though the patient reports significant personal stress and a family history of premature myocardial infarction. The clinician will consult with the patient's family doctor to coordinate further investigation and rule out cardiac pathology.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CAR0005: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gridCol w="4983480"/>
                <a:gridCol w="4983480"/>
              </a:tblGrid>
              <a:tr h="418011">
                <a:tc>
                  <a:txBody>
                    <a:bodyPr/>
                    <a:lstStyle/>
                    <a:p>
                      <a:pPr algn="ctr">
                        <a:defRPr sz="1200" b="1">
                          <a:solidFill>
                            <a:srgbClr val="4EC9F0"/>
                          </a:solidFill>
                          <a:latin typeface="Calibri"/>
                        </a:defRPr>
                      </a:pPr>
                      <a:r>
                        <a:t>SOAP Field</a:t>
                      </a:r>
                    </a:p>
                  </a:txBody>
                  <a:tcPr anchor="ctr" marL="73152" marR="73152" marT="36576" marB="36576">
                    <a:solidFill>
                      <a:srgbClr val="2A2A4A"/>
                    </a:solidFill>
                  </a:tcPr>
                </a:tc>
                <a:tc>
                  <a:txBody>
                    <a:bodyPr/>
                    <a:lstStyle/>
                    <a:p>
                      <a:pPr algn="ctr">
                        <a:defRPr sz="1200" b="1">
                          <a:solidFill>
                            <a:srgbClr val="50E3A0"/>
                          </a:solidFill>
                          <a:latin typeface="Calibri"/>
                        </a:defRPr>
                      </a:pPr>
                      <a:r>
                        <a:t>Ground Truth</a:t>
                      </a:r>
                    </a:p>
                  </a:txBody>
                  <a:tcPr anchor="ctr" marL="73152" marR="73152" marT="36576" marB="36576">
                    <a:solidFill>
                      <a:srgbClr val="2A2A4A"/>
                    </a:solidFill>
                  </a:tcPr>
                </a:tc>
                <a:tc>
                  <a:txBody>
                    <a:bodyPr/>
                    <a:lstStyle/>
                    <a:p>
                      <a:pPr algn="ctr">
                        <a:defRPr sz="1200" b="1">
                          <a:solidFill>
                            <a:srgbClr val="F09E4E"/>
                          </a:solidFill>
                          <a:latin typeface="Calibri"/>
                        </a:defRPr>
                      </a:pPr>
                      <a:r>
                        <a:t>Predicted (Gemini 3.6 Flash)</a:t>
                      </a:r>
                    </a:p>
                  </a:txBody>
                  <a:tcPr anchor="ctr" marL="73152" marR="73152" marT="36576" marB="36576">
                    <a:solidFill>
                      <a:srgbClr val="2A2A4A"/>
                    </a:solidFill>
                  </a:tcPr>
                </a:tc>
              </a:tr>
              <a:tr h="418011">
                <a:tc>
                  <a:txBody>
                    <a:bodyPr/>
                    <a:lstStyle/>
                    <a:p>
                      <a:pPr>
                        <a:defRPr sz="1000" b="1">
                          <a:solidFill>
                            <a:srgbClr val="4EC9F0"/>
                          </a:solidFill>
                          <a:latin typeface="Calibri"/>
                        </a:defRPr>
                      </a:pPr>
                      <a:r>
                        <a:t>Chief Complaint</a:t>
                      </a:r>
                    </a:p>
                  </a:txBody>
                  <a:tcPr anchor="t" marL="73152" marR="73152" marT="36576" marB="36576">
                    <a:solidFill>
                      <a:srgbClr val="1E1E36"/>
                    </a:solidFill>
                  </a:tcPr>
                </a:tc>
                <a:tc>
                  <a:txBody>
                    <a:bodyPr/>
                    <a:lstStyle/>
                    <a:p>
                      <a:pPr>
                        <a:defRPr sz="900">
                          <a:solidFill>
                            <a:srgbClr val="F0F0F5"/>
                          </a:solidFill>
                          <a:latin typeface="Calibri"/>
                        </a:defRPr>
                      </a:pPr>
                      <a:r>
                        <a:t>Chest pain</a:t>
                      </a:r>
                    </a:p>
                  </a:txBody>
                  <a:tcPr anchor="t" marL="73152" marR="73152" marT="36576" marB="36576">
                    <a:solidFill>
                      <a:srgbClr val="1E1E36"/>
                    </a:solidFill>
                  </a:tcPr>
                </a:tc>
                <a:tc>
                  <a:txBody>
                    <a:bodyPr/>
                    <a:lstStyle/>
                    <a:p>
                      <a:pPr>
                        <a:defRPr sz="900">
                          <a:solidFill>
                            <a:srgbClr val="F0F0F5"/>
                          </a:solidFill>
                          <a:latin typeface="Calibri"/>
                        </a:defRPr>
                      </a:pPr>
                      <a:r>
                        <a:t>Chest pain</a:t>
                      </a:r>
                    </a:p>
                  </a:txBody>
                  <a:tcPr anchor="t" marL="73152" marR="73152" marT="36576" marB="36576">
                    <a:solidFill>
                      <a:srgbClr val="1E1E36"/>
                    </a:solidFill>
                  </a:tcPr>
                </a:tc>
              </a:tr>
              <a:tr h="418011">
                <a:tc>
                  <a:txBody>
                    <a:bodyPr/>
                    <a:lstStyle/>
                    <a:p>
                      <a:pPr>
                        <a:defRPr sz="1000" b="1">
                          <a:solidFill>
                            <a:srgbClr val="4EC9F0"/>
                          </a:solidFill>
                          <a:latin typeface="Calibri"/>
                        </a:defRPr>
                      </a:pPr>
                      <a:r>
                        <a:t>Symptoms</a:t>
                      </a:r>
                    </a:p>
                  </a:txBody>
                  <a:tcPr anchor="t" marL="73152" marR="73152" marT="36576" marB="36576">
                    <a:solidFill>
                      <a:srgbClr val="262640"/>
                    </a:solidFill>
                  </a:tcPr>
                </a:tc>
                <a:tc>
                  <a:txBody>
                    <a:bodyPr/>
                    <a:lstStyle/>
                    <a:p>
                      <a:pPr>
                        <a:defRPr sz="900">
                          <a:solidFill>
                            <a:srgbClr val="F0F0F5"/>
                          </a:solidFill>
                          <a:latin typeface="Calibri"/>
                        </a:defRPr>
                      </a:pPr>
                      <a:r>
                        <a:t>chest discomfort | sharp pain | left-sided chest pain | intermittent pain</a:t>
                      </a:r>
                    </a:p>
                  </a:txBody>
                  <a:tcPr anchor="t" marL="73152" marR="73152" marT="36576" marB="36576">
                    <a:solidFill>
                      <a:srgbClr val="262640"/>
                    </a:solidFill>
                  </a:tcPr>
                </a:tc>
                <a:tc>
                  <a:txBody>
                    <a:bodyPr/>
                    <a:lstStyle/>
                    <a:p>
                      <a:pPr>
                        <a:defRPr sz="900">
                          <a:solidFill>
                            <a:srgbClr val="F0F0F5"/>
                          </a:solidFill>
                          <a:latin typeface="Calibri"/>
                        </a:defRPr>
                      </a:pPr>
                      <a:r>
                        <a:t>sharp chest pain | left-sided chest discomfort</a:t>
                      </a:r>
                    </a:p>
                  </a:txBody>
                  <a:tcPr anchor="t" marL="73152" marR="73152" marT="36576" marB="36576">
                    <a:solidFill>
                      <a:srgbClr val="262640"/>
                    </a:solidFill>
                  </a:tcPr>
                </a:tc>
              </a:tr>
              <a:tr h="418011">
                <a:tc>
                  <a:txBody>
                    <a:bodyPr/>
                    <a:lstStyle/>
                    <a:p>
                      <a:pPr>
                        <a:defRPr sz="1000" b="1">
                          <a:solidFill>
                            <a:srgbClr val="4EC9F0"/>
                          </a:solidFill>
                          <a:latin typeface="Calibri"/>
                        </a:defRPr>
                      </a:pPr>
                      <a:r>
                        <a:t>Symptom Onset</a:t>
                      </a:r>
                    </a:p>
                  </a:txBody>
                  <a:tcPr anchor="t" marL="73152" marR="73152" marT="36576" marB="36576">
                    <a:solidFill>
                      <a:srgbClr val="1E1E36"/>
                    </a:solidFill>
                  </a:tcPr>
                </a:tc>
                <a:tc>
                  <a:txBody>
                    <a:bodyPr/>
                    <a:lstStyle/>
                    <a:p>
                      <a:pPr>
                        <a:defRPr sz="900">
                          <a:solidFill>
                            <a:srgbClr val="F0F0F5"/>
                          </a:solidFill>
                          <a:latin typeface="Calibri"/>
                        </a:defRPr>
                      </a:pPr>
                      <a:r>
                        <a:t>2 weeks ago</a:t>
                      </a:r>
                    </a:p>
                  </a:txBody>
                  <a:tcPr anchor="t" marL="73152" marR="73152" marT="36576" marB="36576">
                    <a:solidFill>
                      <a:srgbClr val="1E1E36"/>
                    </a:solidFill>
                  </a:tcPr>
                </a:tc>
                <a:tc>
                  <a:txBody>
                    <a:bodyPr/>
                    <a:lstStyle/>
                    <a:p>
                      <a:pPr>
                        <a:defRPr sz="900">
                          <a:solidFill>
                            <a:srgbClr val="F0F0F5"/>
                          </a:solidFill>
                          <a:latin typeface="Calibri"/>
                        </a:defRPr>
                      </a:pPr>
                      <a:r>
                        <a:t>Two weeks ago</a:t>
                      </a:r>
                    </a:p>
                  </a:txBody>
                  <a:tcPr anchor="t" marL="73152" marR="73152" marT="36576" marB="36576">
                    <a:solidFill>
                      <a:srgbClr val="1E1E36"/>
                    </a:solidFill>
                  </a:tcPr>
                </a:tc>
              </a:tr>
              <a:tr h="418011">
                <a:tc>
                  <a:txBody>
                    <a:bodyPr/>
                    <a:lstStyle/>
                    <a:p>
                      <a:pPr>
                        <a:defRPr sz="1000" b="1">
                          <a:solidFill>
                            <a:srgbClr val="4EC9F0"/>
                          </a:solidFill>
                          <a:latin typeface="Calibri"/>
                        </a:defRPr>
                      </a:pPr>
                      <a:r>
                        <a:t>Medical History</a:t>
                      </a:r>
                    </a:p>
                  </a:txBody>
                  <a:tcPr anchor="t" marL="73152" marR="73152" marT="36576" marB="36576">
                    <a:solidFill>
                      <a:srgbClr val="262640"/>
                    </a:solidFill>
                  </a:tcPr>
                </a:tc>
                <a:tc>
                  <a:txBody>
                    <a:bodyPr/>
                    <a:lstStyle/>
                    <a:p>
                      <a:pPr>
                        <a:defRPr sz="900">
                          <a:solidFill>
                            <a:srgbClr val="F0F0F5"/>
                          </a:solidFill>
                          <a:latin typeface="Calibri"/>
                        </a:defRPr>
                      </a:pPr>
                      <a:r>
                        <a:t>previously healthy</a:t>
                      </a:r>
                    </a:p>
                  </a:txBody>
                  <a:tcPr anchor="t" marL="73152" marR="73152" marT="36576" marB="36576">
                    <a:solidFill>
                      <a:srgbClr val="262640"/>
                    </a:solidFill>
                  </a:tcPr>
                </a:tc>
                <a:tc>
                  <a:txBody>
                    <a:bodyPr/>
                    <a:lstStyle/>
                    <a:p>
                      <a:pPr>
                        <a:defRPr sz="900">
                          <a:solidFill>
                            <a:srgbClr val="F0F0F5"/>
                          </a:solidFill>
                          <a:latin typeface="Calibri"/>
                        </a:defRPr>
                      </a:pPr>
                      <a:r>
                        <a:t>Previously healthy | Family history of myocardial infarction (father at age 60)</a:t>
                      </a:r>
                    </a:p>
                  </a:txBody>
                  <a:tcPr anchor="t" marL="73152" marR="73152" marT="36576" marB="36576">
                    <a:solidFill>
                      <a:srgbClr val="262640"/>
                    </a:solidFill>
                  </a:tcPr>
                </a:tc>
              </a:tr>
              <a:tr h="418011">
                <a:tc>
                  <a:txBody>
                    <a:bodyPr/>
                    <a:lstStyle/>
                    <a:p>
                      <a:pPr>
                        <a:defRPr sz="1000" b="1">
                          <a:solidFill>
                            <a:srgbClr val="4EC9F0"/>
                          </a:solidFill>
                          <a:latin typeface="Calibri"/>
                        </a:defRPr>
                      </a:pPr>
                      <a:r>
                        <a:t>Medications</a:t>
                      </a:r>
                    </a:p>
                  </a:txBody>
                  <a:tcPr anchor="t" marL="73152" marR="73152" marT="36576" marB="36576">
                    <a:solidFill>
                      <a:srgbClr val="1E1E36"/>
                    </a:solidFill>
                  </a:tcPr>
                </a:tc>
                <a:tc>
                  <a:txBody>
                    <a:bodyPr/>
                    <a:lstStyle/>
                    <a:p>
                      <a:pPr>
                        <a:defRPr sz="900">
                          <a:solidFill>
                            <a:srgbClr val="F0F0F5"/>
                          </a:solidFill>
                          <a:latin typeface="Calibri"/>
                        </a:defRPr>
                      </a:pPr>
                      <a:r>
                        <a:t>Advil | Tylenol | Tums</a:t>
                      </a:r>
                    </a:p>
                  </a:txBody>
                  <a:tcPr anchor="t" marL="73152" marR="73152" marT="36576" marB="36576">
                    <a:solidFill>
                      <a:srgbClr val="1E1E36"/>
                    </a:solidFill>
                  </a:tcPr>
                </a:tc>
                <a:tc>
                  <a:txBody>
                    <a:bodyPr/>
                    <a:lstStyle/>
                    <a:p>
                      <a:pPr>
                        <a:defRPr sz="900">
                          <a:solidFill>
                            <a:srgbClr val="F0F0F5"/>
                          </a:solidFill>
                          <a:latin typeface="Calibri"/>
                        </a:defRPr>
                      </a:pPr>
                      <a:r>
                        <a:t>Tylenol (trialled for pain) | Advil (trialled for pain) | Tums (trialled for pain)</a:t>
                      </a:r>
                    </a:p>
                  </a:txBody>
                  <a:tcPr anchor="t" marL="73152" marR="73152" marT="36576" marB="36576">
                    <a:solidFill>
                      <a:srgbClr val="1E1E36"/>
                    </a:solidFill>
                  </a:tcPr>
                </a:tc>
              </a:tr>
              <a:tr h="418011">
                <a:tc>
                  <a:txBody>
                    <a:bodyPr/>
                    <a:lstStyle/>
                    <a:p>
                      <a:pPr>
                        <a:defRPr sz="1000" b="1">
                          <a:solidFill>
                            <a:srgbClr val="4EC9F0"/>
                          </a:solidFill>
                          <a:latin typeface="Calibri"/>
                        </a:defRPr>
                      </a:pPr>
                      <a:r>
                        <a:t>Allergies</a:t>
                      </a:r>
                    </a:p>
                  </a:txBody>
                  <a:tcPr anchor="t" marL="73152" marR="73152" marT="36576" marB="36576">
                    <a:solidFill>
                      <a:srgbClr val="262640"/>
                    </a:solidFill>
                  </a:tcPr>
                </a:tc>
                <a:tc>
                  <a:txBody>
                    <a:bodyPr/>
                    <a:lstStyle/>
                    <a:p>
                      <a:pPr>
                        <a:defRPr sz="900">
                          <a:solidFill>
                            <a:srgbClr val="F0F0F5"/>
                          </a:solidFill>
                          <a:latin typeface="Calibri"/>
                        </a:defRPr>
                      </a:pPr>
                      <a:r>
                        <a:t>none</a:t>
                      </a:r>
                    </a:p>
                  </a:txBody>
                  <a:tcPr anchor="t" marL="73152" marR="73152" marT="36576" marB="36576">
                    <a:solidFill>
                      <a:srgbClr val="262640"/>
                    </a:solidFill>
                  </a:tcPr>
                </a:tc>
                <a:tc>
                  <a:txBody>
                    <a:bodyPr/>
                    <a:lstStyle/>
                    <a:p>
                      <a:pPr>
                        <a:defRPr sz="900">
                          <a:solidFill>
                            <a:srgbClr val="F0F0F5"/>
                          </a:solidFill>
                          <a:latin typeface="Calibri"/>
                        </a:defRPr>
                      </a:pPr>
                      <a:r>
                        <a:t>None</a:t>
                      </a:r>
                    </a:p>
                  </a:txBody>
                  <a:tcPr anchor="t" marL="73152" marR="73152" marT="36576" marB="36576">
                    <a:solidFill>
                      <a:srgbClr val="262640"/>
                    </a:solidFill>
                  </a:tcPr>
                </a:tc>
              </a:tr>
              <a:tr h="418011">
                <a:tc>
                  <a:txBody>
                    <a:bodyPr/>
                    <a:lstStyle/>
                    <a:p>
                      <a:pPr>
                        <a:defRPr sz="1000" b="1">
                          <a:solidFill>
                            <a:srgbClr val="4EC9F0"/>
                          </a:solidFill>
                          <a:latin typeface="Calibri"/>
                        </a:defRPr>
                      </a:pPr>
                      <a:r>
                        <a:t>Exam Findings</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c>
                  <a:txBody>
                    <a:bodyPr/>
                    <a:lstStyle/>
                    <a:p>
                      <a:pPr>
                        <a:defRPr sz="900">
                          <a:solidFill>
                            <a:srgbClr val="F0F0F5"/>
                          </a:solidFill>
                          <a:latin typeface="Calibri"/>
                        </a:defRPr>
                      </a:pPr>
                      <a:r>
                        <a:t>—</a:t>
                      </a:r>
                    </a:p>
                  </a:txBody>
                  <a:tcPr anchor="t" marL="73152" marR="73152" marT="36576" marB="36576">
                    <a:solidFill>
                      <a:srgbClr val="1E1E36"/>
                    </a:solidFill>
                  </a:tcPr>
                </a:tc>
              </a:tr>
              <a:tr h="418011">
                <a:tc>
                  <a:txBody>
                    <a:bodyPr/>
                    <a:lstStyle/>
                    <a:p>
                      <a:pPr>
                        <a:defRPr sz="1000" b="1">
                          <a:solidFill>
                            <a:srgbClr val="4EC9F0"/>
                          </a:solidFill>
                          <a:latin typeface="Calibri"/>
                        </a:defRPr>
                      </a:pPr>
                      <a:r>
                        <a:t>Diagnosis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Diff. Diagnosis</a:t>
                      </a:r>
                    </a:p>
                  </a:txBody>
                  <a:tcPr anchor="t" marL="73152" marR="73152" marT="36576" marB="36576">
                    <a:solidFill>
                      <a:srgbClr val="1E1E36"/>
                    </a:solidFill>
                  </a:tcPr>
                </a:tc>
                <a:tc>
                  <a:txBody>
                    <a:bodyPr/>
                    <a:lstStyle/>
                    <a:p>
                      <a:pPr>
                        <a:defRPr sz="900">
                          <a:solidFill>
                            <a:srgbClr val="F0F0F5"/>
                          </a:solidFill>
                          <a:latin typeface="Calibri"/>
                        </a:defRPr>
                      </a:pPr>
                      <a:r>
                        <a:t>cardiac-related chest pain | stress-related symptoms</a:t>
                      </a:r>
                    </a:p>
                  </a:txBody>
                  <a:tcPr anchor="t" marL="73152" marR="73152" marT="36576" marB="36576">
                    <a:solidFill>
                      <a:srgbClr val="1E1E36"/>
                    </a:solidFill>
                  </a:tcPr>
                </a:tc>
                <a:tc>
                  <a:txBody>
                    <a:bodyPr/>
                    <a:lstStyle/>
                    <a:p>
                      <a:pPr>
                        <a:defRPr sz="900">
                          <a:solidFill>
                            <a:srgbClr val="F0F0F5"/>
                          </a:solidFill>
                          <a:latin typeface="Calibri"/>
                        </a:defRPr>
                      </a:pPr>
                      <a:r>
                        <a:t>Cardiac-related chest pain | Stress-related chest pain</a:t>
                      </a:r>
                    </a:p>
                  </a:txBody>
                  <a:tcPr anchor="t" marL="73152" marR="73152" marT="36576" marB="36576">
                    <a:solidFill>
                      <a:srgbClr val="1E1E36"/>
                    </a:solidFill>
                  </a:tcPr>
                </a:tc>
              </a:tr>
              <a:tr h="418011">
                <a:tc>
                  <a:txBody>
                    <a:bodyPr/>
                    <a:lstStyle/>
                    <a:p>
                      <a:pPr>
                        <a:defRPr sz="1000" b="1">
                          <a:solidFill>
                            <a:srgbClr val="4EC9F0"/>
                          </a:solidFill>
                          <a:latin typeface="Calibri"/>
                        </a:defRPr>
                      </a:pPr>
                      <a:r>
                        <a:t>Prescribed Meds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1">
                <a:tc>
                  <a:txBody>
                    <a:bodyPr/>
                    <a:lstStyle/>
                    <a:p>
                      <a:pPr>
                        <a:defRPr sz="1000" b="1">
                          <a:solidFill>
                            <a:srgbClr val="4EC9F0"/>
                          </a:solidFill>
                          <a:latin typeface="Calibri"/>
                        </a:defRPr>
                      </a:pPr>
                      <a:r>
                        <a:t>Treatment Plan</a:t>
                      </a:r>
                    </a:p>
                  </a:txBody>
                  <a:tcPr anchor="t" marL="73152" marR="73152" marT="36576" marB="36576">
                    <a:solidFill>
                      <a:srgbClr val="1E1E36"/>
                    </a:solidFill>
                  </a:tcPr>
                </a:tc>
                <a:tc>
                  <a:txBody>
                    <a:bodyPr/>
                    <a:lstStyle/>
                    <a:p>
                      <a:pPr>
                        <a:defRPr sz="900">
                          <a:solidFill>
                            <a:srgbClr val="F0F0F5"/>
                          </a:solidFill>
                          <a:latin typeface="Calibri"/>
                        </a:defRPr>
                      </a:pPr>
                      <a:r>
                        <a:t>Consultation with family doctor to review findings and determine next steps.</a:t>
                      </a:r>
                    </a:p>
                  </a:txBody>
                  <a:tcPr anchor="t" marL="73152" marR="73152" marT="36576" marB="36576">
                    <a:solidFill>
                      <a:srgbClr val="1E1E36"/>
                    </a:solidFill>
                  </a:tcPr>
                </a:tc>
                <a:tc>
                  <a:txBody>
                    <a:bodyPr/>
                    <a:lstStyle/>
                    <a:p>
                      <a:pPr>
                        <a:defRPr sz="900">
                          <a:solidFill>
                            <a:srgbClr val="F0F0F5"/>
                          </a:solidFill>
                          <a:latin typeface="Calibri"/>
                        </a:defRPr>
                      </a:pPr>
                      <a:r>
                        <a:t>Consult with family doctor regarding clinical findings | Further investigation to rule out cardiac pathology</a:t>
                      </a:r>
                    </a:p>
                  </a:txBody>
                  <a:tcPr anchor="t" marL="73152" marR="73152" marT="36576" marB="36576">
                    <a:solidFill>
                      <a:srgbClr val="1E1E36"/>
                    </a:solidFill>
                  </a:tcPr>
                </a:tc>
              </a:tr>
              <a:tr h="418011">
                <a:tc>
                  <a:txBody>
                    <a:bodyPr/>
                    <a:lstStyle/>
                    <a:p>
                      <a:pPr>
                        <a:defRPr sz="1000" b="1">
                          <a:solidFill>
                            <a:srgbClr val="4EC9F0"/>
                          </a:solidFill>
                          <a:latin typeface="Calibri"/>
                        </a:defRPr>
                      </a:pPr>
                      <a:r>
                        <a:t>Investigations</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c>
                  <a:txBody>
                    <a:bodyPr/>
                    <a:lstStyle/>
                    <a:p>
                      <a:pPr>
                        <a:defRPr sz="900">
                          <a:solidFill>
                            <a:srgbClr val="F0F0F5"/>
                          </a:solidFill>
                          <a:latin typeface="Calibri"/>
                        </a:defRPr>
                      </a:pPr>
                      <a:r>
                        <a:t>—</a:t>
                      </a:r>
                    </a:p>
                  </a:txBody>
                  <a:tcPr anchor="t" marL="73152" marR="73152" marT="36576" marB="36576">
                    <a:solidFill>
                      <a:srgbClr val="262640"/>
                    </a:solidFill>
                  </a:tcPr>
                </a:tc>
              </a:tr>
              <a:tr h="418017">
                <a:tc>
                  <a:txBody>
                    <a:bodyPr/>
                    <a:lstStyle/>
                    <a:p>
                      <a:pPr>
                        <a:defRPr sz="1000" b="1">
                          <a:solidFill>
                            <a:srgbClr val="4EC9F0"/>
                          </a:solidFill>
                          <a:latin typeface="Calibri"/>
                        </a:defRPr>
                      </a:pPr>
                      <a:r>
                        <a:t>Follow Up</a:t>
                      </a:r>
                    </a:p>
                  </a:txBody>
                  <a:tcPr anchor="t" marL="73152" marR="73152" marT="36576" marB="36576">
                    <a:solidFill>
                      <a:srgbClr val="1E1E36"/>
                    </a:solidFill>
                  </a:tcPr>
                </a:tc>
                <a:tc>
                  <a:txBody>
                    <a:bodyPr/>
                    <a:lstStyle/>
                    <a:p>
                      <a:pPr>
                        <a:defRPr sz="900">
                          <a:solidFill>
                            <a:srgbClr val="F0F0F5"/>
                          </a:solidFill>
                          <a:latin typeface="Calibri"/>
                        </a:defRPr>
                      </a:pPr>
                      <a:r>
                        <a:t>Patient to consult with their family doctor regarding findings.</a:t>
                      </a:r>
                    </a:p>
                  </a:txBody>
                  <a:tcPr anchor="t" marL="73152" marR="73152" marT="36576" marB="36576">
                    <a:solidFill>
                      <a:srgbClr val="1E1E36"/>
                    </a:solidFill>
                  </a:tcPr>
                </a:tc>
                <a:tc>
                  <a:txBody>
                    <a:bodyPr/>
                    <a:lstStyle/>
                    <a:p>
                      <a:pPr>
                        <a:defRPr sz="900">
                          <a:solidFill>
                            <a:srgbClr val="F0F0F5"/>
                          </a:solidFill>
                          <a:latin typeface="Calibri"/>
                        </a:defRPr>
                      </a:pPr>
                      <a:r>
                        <a:t>Return to discuss next steps after consultation with family doctor.</a:t>
                      </a:r>
                    </a:p>
                  </a:txBody>
                  <a:tcPr anchor="t" marL="73152" marR="73152" marT="36576" marB="36576">
                    <a:solidFill>
                      <a:srgbClr val="1E1E36"/>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